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8"/>
  </p:notesMasterIdLst>
  <p:handoutMasterIdLst>
    <p:handoutMasterId r:id="rId39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9B570E1-CFFA-F280-BAED-DB325FDF417B}" name="Bridges, Jessica L" initials="BL" userId="S::bridges@uta.edu::7543e851-fc57-4885-b57d-2df771cc28b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2184"/>
    <a:srgbClr val="00599B"/>
    <a:srgbClr val="80F571"/>
    <a:srgbClr val="13409F"/>
    <a:srgbClr val="CAB447"/>
    <a:srgbClr val="FFE1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0240"/>
    <p:restoredTop sz="96327"/>
  </p:normalViewPr>
  <p:slideViewPr>
    <p:cSldViewPr snapToGrid="0" snapToObjects="1">
      <p:cViewPr varScale="1">
        <p:scale>
          <a:sx n="155" d="100"/>
          <a:sy n="155" d="100"/>
        </p:scale>
        <p:origin x="200" y="336"/>
      </p:cViewPr>
      <p:guideLst/>
    </p:cSldViewPr>
  </p:slideViewPr>
  <p:outlineViewPr>
    <p:cViewPr>
      <p:scale>
        <a:sx n="33" d="100"/>
        <a:sy n="33" d="100"/>
      </p:scale>
      <p:origin x="0" y="-1870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38" Type="http://schemas.openxmlformats.org/officeDocument/2006/relationships/notesMaster" Target="notesMasters/notesMaster1.xml"/><Relationship Id="rId39" Type="http://schemas.openxmlformats.org/officeDocument/2006/relationships/handoutMaster" Target="handoutMasters/handout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4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F0ABC6-AE81-214D-B04B-F13CE22270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823795-EAAB-8C4B-B865-8464BECAB5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FE638-083F-2742-8710-EF25AB6A16C1}" type="datetimeFigureOut">
              <a:rPr lang="en-US" smtClean="0"/>
              <a:t>11/8/22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ECA2D-985E-8D44-A4FB-51751C64F4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40B2F-FCD1-B940-AFB1-3C0582F356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70D12-813D-3D40-A841-271861A2D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57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5A097-495F-854B-A9AD-402D045A3296}" type="datetimeFigureOut">
              <a:rPr lang="en-US" smtClean="0"/>
              <a:t>11/8/22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0C5E2-78CD-F746-9BAF-2B89BCAF7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962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studied what quantization really buys you when serving an LLM: memory, speed and quality, measured end to end on one RTX 5090 with two inference stacks.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Hardware, the eight configurations, the workloads and how we time things.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Weights: NF4 saves 2.60x instead of 4x, INT8 1.75x instead of 2x, because the embedding and LM head stay in 16-bit and NF4 stores a scale per 64 weights. At run time the KV cache and activations are not quantized, so the end-to-end saving shrinks toward 1x as batch and context grow.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prefill is compute-bound, so only formats that quantize activations (FP8) cut TTFT. Middle: decode at small batch is memory-bound; vLLM's fused kernels turn fewer bytes into speed, bitsandbytes does not. Right: at high batch only FP8 still raises throughput.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Blue cells: quantized is faster; red: slower. Weight-only 4-bit wins big at small batches and short prompts and fades out with batch size; FP8 wins everywhere; LLM.int8 never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Weight-only 4-bit cuts the bytes 4x, so at small M it climbs the bandwidth roof 4x faster. It also reaches the compute roof at a 4x smaller M; from there the math still runs in BF16 and dequantization is pure overhead. FP8 W8A8 raises the compute roof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LLM.int8() splits every matmul into casts, outlier extraction, INT8 quantization and two GEMMs. The GPU work is small; the Python and kernel-launch overhead dominates the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300 requests, same output lengths for every configuration. Continuous batching and fused kernels matter more than the number format; among vLLM formats FP8 scales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rules: plan memory with the real ratio; for interactive serving use 4-bit weights with a fused kernel; for throughput use FP8 W8A8; treat bitsandbytes as a memory tool, not a speed-up.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Division of work as planned in the proposal; everyone shared analysis and writing.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A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31E7C7E-200A-F626-0A3D-92CC978B8D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78871" y="3562708"/>
            <a:ext cx="5226218" cy="145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57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</p:spTree>
    <p:extLst>
      <p:ext uri="{BB962C8B-B14F-4D97-AF65-F5344CB8AC3E}">
        <p14:creationId xmlns:p14="http://schemas.microsoft.com/office/powerpoint/2010/main" val="1750241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42520" y="3884341"/>
            <a:ext cx="4581525" cy="10588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759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42520" y="3884341"/>
            <a:ext cx="4581525" cy="105886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255C03-226B-5FC2-208E-578716830E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1600" y="2741663"/>
            <a:ext cx="3659188" cy="898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6237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1785462"/>
            <a:ext cx="8229600" cy="857253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DB257BD6-4D9A-CD45-BCE2-728C5AB620C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2529642"/>
            <a:ext cx="8229600" cy="6794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45287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88B4A6B9-381D-5D40-84AC-41D60C0A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99"/>
            <a:ext cx="8229600" cy="85725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H2 Subtitle">
            <a:extLst>
              <a:ext uri="{FF2B5EF4-FFF2-40B4-BE49-F238E27FC236}">
                <a16:creationId xmlns:a16="http://schemas.microsoft.com/office/drawing/2014/main" id="{5B196C90-74A6-5E42-A204-A1E0DBCB67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837565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Body Content">
            <a:extLst>
              <a:ext uri="{FF2B5EF4-FFF2-40B4-BE49-F238E27FC236}">
                <a16:creationId xmlns:a16="http://schemas.microsoft.com/office/drawing/2014/main" id="{4F275BD8-ECF8-F54B-B4E2-A66F7AB2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8229600" cy="3098800"/>
          </a:xfrm>
        </p:spPr>
        <p:txBody>
          <a:bodyPr>
            <a:normAutofit/>
          </a:bodyPr>
          <a:lstStyle>
            <a:lvl1pPr marL="342900" indent="-342900">
              <a:buFont typeface="Wingdings" pitchFamily="2" charset="2"/>
              <a:buChar char="§"/>
              <a:defRPr sz="1600"/>
            </a:lvl1pPr>
            <a:lvl2pPr marL="742950" indent="-285750">
              <a:buFont typeface="Wingdings" pitchFamily="2" charset="2"/>
              <a:buChar char="§"/>
              <a:defRPr sz="1600"/>
            </a:lvl2pPr>
            <a:lvl3pPr marL="1143000" indent="-228600">
              <a:buFont typeface="Wingdings" pitchFamily="2" charset="2"/>
              <a:buChar char="§"/>
              <a:defRPr sz="1600"/>
            </a:lvl3pPr>
            <a:lvl4pPr marL="1600200" indent="-228600">
              <a:buFont typeface="Wingdings" pitchFamily="2" charset="2"/>
              <a:buChar char="§"/>
              <a:defRPr sz="1600"/>
            </a:lvl4pPr>
            <a:lvl5pPr marL="2057400" indent="-228600">
              <a:buFont typeface="Wingdings" pitchFamily="2" charset="2"/>
              <a:buChar char="§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6696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H2 Subtitle">
            <a:extLst>
              <a:ext uri="{FF2B5EF4-FFF2-40B4-BE49-F238E27FC236}">
                <a16:creationId xmlns:a16="http://schemas.microsoft.com/office/drawing/2014/main" id="{7E449A25-5BA8-A049-892B-A920427B81B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799465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Body Content 1"/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4038600" cy="3098800"/>
          </a:xfrm>
        </p:spPr>
        <p:txBody>
          <a:bodyPr>
            <a:normAutofit/>
          </a:bodyPr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648200" y="1310641"/>
            <a:ext cx="4038600" cy="309880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14677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7501" y="1111158"/>
            <a:ext cx="2721430" cy="1668483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Body Content 2">
            <a:extLst>
              <a:ext uri="{FF2B5EF4-FFF2-40B4-BE49-F238E27FC236}">
                <a16:creationId xmlns:a16="http://schemas.microsoft.com/office/drawing/2014/main" id="{AF760239-E1E4-98A8-BC2A-AD64F71B7E0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499" y="2856015"/>
            <a:ext cx="2721431" cy="1668483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Body Content 2">
            <a:extLst>
              <a:ext uri="{FF2B5EF4-FFF2-40B4-BE49-F238E27FC236}">
                <a16:creationId xmlns:a16="http://schemas.microsoft.com/office/drawing/2014/main" id="{52458702-0A0A-743A-4663-E0EA4FBC4EB5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2919350" y="1111158"/>
            <a:ext cx="2644240" cy="1744857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Body Content 2">
            <a:extLst>
              <a:ext uri="{FF2B5EF4-FFF2-40B4-BE49-F238E27FC236}">
                <a16:creationId xmlns:a16="http://schemas.microsoft.com/office/drawing/2014/main" id="{E7DCE5C4-5A12-8BD9-2E79-6B094F4C1FD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2909453" y="2985224"/>
            <a:ext cx="2721431" cy="1971304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Body Content 2">
            <a:extLst>
              <a:ext uri="{FF2B5EF4-FFF2-40B4-BE49-F238E27FC236}">
                <a16:creationId xmlns:a16="http://schemas.microsoft.com/office/drawing/2014/main" id="{3180402C-B205-3B02-80EC-1389CEFE02F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008916" y="1117911"/>
            <a:ext cx="2933203" cy="166173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Body Content 2">
            <a:extLst>
              <a:ext uri="{FF2B5EF4-FFF2-40B4-BE49-F238E27FC236}">
                <a16:creationId xmlns:a16="http://schemas.microsoft.com/office/drawing/2014/main" id="{1D0698A4-F993-1339-EDDC-E122275B26E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75267" y="2985224"/>
            <a:ext cx="2952999" cy="1959926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80621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Wide Table">
            <a:extLst>
              <a:ext uri="{FF2B5EF4-FFF2-40B4-BE49-F238E27FC236}">
                <a16:creationId xmlns:a16="http://schemas.microsoft.com/office/drawing/2014/main" id="{A31F2DD0-A818-C246-A801-671F4BC2994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228600" y="285750"/>
            <a:ext cx="8686800" cy="45720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181464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Wide Chart">
            <a:extLst>
              <a:ext uri="{FF2B5EF4-FFF2-40B4-BE49-F238E27FC236}">
                <a16:creationId xmlns:a16="http://schemas.microsoft.com/office/drawing/2014/main" id="{21B7D27F-640B-514B-9B11-9D1645F3F49A}"/>
              </a:ext>
            </a:extLst>
          </p:cNvPr>
          <p:cNvSpPr>
            <a:spLocks noGrp="1" noChangeAspect="1"/>
          </p:cNvSpPr>
          <p:nvPr>
            <p:ph type="chart" sz="quarter" idx="11"/>
          </p:nvPr>
        </p:nvSpPr>
        <p:spPr>
          <a:xfrm>
            <a:off x="228600" y="285750"/>
            <a:ext cx="8686800" cy="45720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933253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ull Bleed Photo">
            <a:extLst>
              <a:ext uri="{FF2B5EF4-FFF2-40B4-BE49-F238E27FC236}">
                <a16:creationId xmlns:a16="http://schemas.microsoft.com/office/drawing/2014/main" id="{3D0D2707-18C2-FA48-9C1E-B114D1A3869D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80953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ull Bleed Video">
            <a:extLst>
              <a:ext uri="{FF2B5EF4-FFF2-40B4-BE49-F238E27FC236}">
                <a16:creationId xmlns:a16="http://schemas.microsoft.com/office/drawing/2014/main" id="{E64AE5ED-FB71-2940-A0AA-8B776317FAB2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2385978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 Content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8415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5" r:id="rId3"/>
    <p:sldLayoutId id="2147483666" r:id="rId4"/>
    <p:sldLayoutId id="2147483654" r:id="rId5"/>
    <p:sldLayoutId id="2147483650" r:id="rId6"/>
    <p:sldLayoutId id="2147483652" r:id="rId7"/>
    <p:sldLayoutId id="2147483664" r:id="rId8"/>
    <p:sldLayoutId id="2147483659" r:id="rId9"/>
    <p:sldLayoutId id="2147483662" r:id="rId10"/>
    <p:sldLayoutId id="2147483660" r:id="rId11"/>
    <p:sldLayoutId id="2147483661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35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733" y="1481328"/>
            <a:ext cx="8229600" cy="731520"/>
          </a:xfrm>
        </p:spPr>
        <p:txBody>
          <a:bodyPr/>
          <a:lstStyle/>
          <a:p>
            <a:r>
              <a:rPr sz="4000"/>
              <a:t>Smaller Is Not Always Faster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>
          <a:xfrm>
            <a:off x="611733" y="2157984"/>
            <a:ext cx="8229600" cy="429768"/>
          </a:xfrm>
        </p:spPr>
        <p:txBody>
          <a:bodyPr/>
          <a:lstStyle/>
          <a:p>
            <a:r>
              <a:t>LLM Quantization on an RTX 5090: Memory vs. Speed vs. Quality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>
          <a:xfrm>
            <a:off x="611733" y="2741371"/>
            <a:ext cx="7315200" cy="301752"/>
          </a:xfrm>
        </p:spPr>
        <p:txBody>
          <a:bodyPr/>
          <a:lstStyle/>
          <a:p>
            <a:r>
              <a:t>Sijia Zhong  ·  Zheng Zheng  ·  Haofei Sun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2" sz="quarter"/>
          </p:nvPr>
        </p:nvSpPr>
        <p:spPr>
          <a:xfrm>
            <a:off x="611733" y="3044952"/>
            <a:ext cx="7315200" cy="292608"/>
          </a:xfrm>
        </p:spPr>
        <p:txBody>
          <a:bodyPr/>
          <a:lstStyle/>
          <a:p>
            <a:r>
              <a:t>Final Project  · 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CSE 6359</a:t>
            </a:r>
            <a:r>
              <a:rPr sz="1200" b="0" i="0">
                <a:solidFill>
                  <a:srgbClr val="FFFFFF"/>
                </a:solidFill>
                <a:latin typeface="Arial"/>
              </a:rPr>
              <a:t>  ·  Advanced Topics in Systems &amp;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8229600" cy="603504"/>
          </a:xfrm>
        </p:spPr>
        <p:txBody>
          <a:bodyPr/>
          <a:lstStyle/>
          <a:p>
            <a:r>
              <a:rPr sz="2800"/>
              <a:t>What We Measured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>
          <a:xfrm>
            <a:off x="457200" y="694944"/>
            <a:ext cx="8229600" cy="310896"/>
          </a:xfrm>
        </p:spPr>
        <p:txBody>
          <a:bodyPr/>
          <a:lstStyle/>
          <a:p>
            <a:r>
              <a:rPr sz="1400"/>
              <a:t>2 backends × 8 configurations × 3 model sizes — every number measured on one GPU</a:t>
            </a:r>
          </a:p>
        </p:txBody>
      </p:sp>
      <p:sp>
        <p:nvSpPr>
          <p:cNvPr id="4" name="Rounded 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133856"/>
            <a:ext cx="2651760" cy="3026663"/>
          </a:xfrm>
          <a:prstGeom prst="roundRect">
            <a:avLst>
              <a:gd name="adj" fmla="val 2758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6" y="1216152"/>
            <a:ext cx="292608" cy="292608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89" y="1280525"/>
            <a:ext cx="163860" cy="1638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9264" y="1216152"/>
            <a:ext cx="2048256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003865"/>
                </a:solidFill>
                <a:latin typeface="Arial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591056"/>
            <a:ext cx="2377440" cy="2468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003865"/>
                </a:solidFill>
                <a:latin typeface="Arial"/>
              </a:rPr>
              <a:t>NVIDIA RTX 5090</a:t>
            </a:r>
            <a:r>
              <a:rPr sz="950" b="0" i="0">
                <a:solidFill>
                  <a:srgbClr val="1F2933"/>
                </a:solidFill>
                <a:latin typeface="Arial"/>
              </a:rPr>
              <a:t> (Blackwell, sm_120)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3"/>
                </a:solidFill>
                <a:latin typeface="Arial"/>
              </a:rPr>
              <a:t>32 GB GDDR7 · 170 SMs · 575 W</a:t>
            </a:r>
          </a:p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003865"/>
                </a:solidFill>
                <a:latin typeface="Arial"/>
              </a:rPr>
              <a:t>Measured: </a:t>
            </a:r>
            <a:r>
              <a:rPr sz="950" b="0" i="0">
                <a:solidFill>
                  <a:srgbClr val="1F2933"/>
                </a:solidFill>
                <a:latin typeface="Arial"/>
              </a:rPr>
              <a:t>1.52 TB/s DRAM, 218 TFLOP/s BF16, 645 TFLOP/s FP8</a:t>
            </a:r>
          </a:p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003865"/>
                </a:solidFill>
                <a:latin typeface="Arial"/>
              </a:rPr>
              <a:t>Software: </a:t>
            </a:r>
            <a:r>
              <a:rPr sz="950" b="0" i="0">
                <a:solidFill>
                  <a:srgbClr val="1F2933"/>
                </a:solidFill>
                <a:latin typeface="Arial"/>
              </a:rPr>
              <a:t>PyTorch 2.13, Transformers 5.19, bitsandbytes 0.50, vLLM 0.32</a:t>
            </a:r>
          </a:p>
          <a:p>
            <a:pPr algn="l"/>
            <a:r>
              <a:rPr sz="950" b="1" i="0">
                <a:solidFill>
                  <a:srgbClr val="003865"/>
                </a:solidFill>
                <a:latin typeface="Arial"/>
              </a:rPr>
              <a:t>Models: </a:t>
            </a:r>
            <a:r>
              <a:rPr sz="950" b="0" i="0">
                <a:solidFill>
                  <a:srgbClr val="1F2933"/>
                </a:solidFill>
                <a:latin typeface="Arial"/>
              </a:rPr>
              <a:t>Qwen2.5-3B / 7B / 14B-Instruct</a:t>
            </a:r>
          </a:p>
        </p:txBody>
      </p:sp>
      <p:sp>
        <p:nvSpPr>
          <p:cNvPr id="9" name="Rounded 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1133856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74136" y="1216152"/>
            <a:ext cx="292608" cy="292608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509" y="1280525"/>
            <a:ext cx="163860" cy="1638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58184" y="1216152"/>
            <a:ext cx="4837176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003865"/>
                </a:solidFill>
                <a:latin typeface="Arial"/>
              </a:rPr>
              <a:t>Eight configurations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2424" y="1591056"/>
            <a:ext cx="51663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5B6770"/>
                </a:solidFill>
                <a:latin typeface="Arial"/>
              </a:rPr>
              <a:t>Hugging Face (eager) + bitsandbytes, quantized at 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2424" y="1810512"/>
            <a:ext cx="515721" cy="237744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51860" y="1888236"/>
            <a:ext cx="82296" cy="82296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5304" y="1810512"/>
            <a:ext cx="332841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1F2933"/>
                </a:solidFill>
                <a:latin typeface="Arial"/>
              </a:rPr>
              <a:t>BF16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81297" y="1810512"/>
            <a:ext cx="1239926" cy="237744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15875">
            <a:solidFill>
              <a:srgbClr val="D551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40733" y="1888236"/>
            <a:ext cx="82296" cy="82296"/>
          </a:xfrm>
          <a:prstGeom prst="ellipse">
            <a:avLst/>
          </a:prstGeom>
          <a:solidFill>
            <a:srgbClr val="D551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4177" y="1810512"/>
            <a:ext cx="105704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1F2933"/>
                </a:solidFill>
                <a:latin typeface="Arial"/>
              </a:rPr>
              <a:t>INT8  LLM.int8()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94376" y="1810512"/>
            <a:ext cx="877824" cy="237744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15875">
            <a:solidFill>
              <a:srgbClr val="C98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3812" y="1888236"/>
            <a:ext cx="82296" cy="82296"/>
          </a:xfrm>
          <a:prstGeom prst="ellipse">
            <a:avLst/>
          </a:prstGeom>
          <a:solidFill>
            <a:srgbClr val="C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77256" y="1810512"/>
            <a:ext cx="6949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1F2933"/>
                </a:solidFill>
                <a:latin typeface="Arial"/>
              </a:rPr>
              <a:t>NF4  4-bit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92424" y="2157984"/>
            <a:ext cx="51663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5B6770"/>
                </a:solidFill>
                <a:latin typeface="Arial"/>
              </a:rPr>
              <a:t>vLLM (CUDA graphs) + fused kernels, official checkpoints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92424" y="2377439"/>
            <a:ext cx="515721" cy="237744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51860" y="2455164"/>
            <a:ext cx="82296" cy="82296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75304" y="2377439"/>
            <a:ext cx="332841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1F2933"/>
                </a:solidFill>
                <a:latin typeface="Arial"/>
              </a:rPr>
              <a:t>BF16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81297" y="2377439"/>
            <a:ext cx="817473" cy="237744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15875">
            <a:solidFill>
              <a:srgbClr val="008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40733" y="2455164"/>
            <a:ext cx="82296" cy="82296"/>
          </a:xfrm>
          <a:prstGeom prst="ellipse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64177" y="2377439"/>
            <a:ext cx="634593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1F2933"/>
                </a:solidFill>
                <a:latin typeface="Arial"/>
              </a:rPr>
              <a:t>FP8  W8A8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71923" y="2377439"/>
            <a:ext cx="1239926" cy="237744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15875">
            <a:solidFill>
              <a:srgbClr val="D551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31359" y="2455164"/>
            <a:ext cx="82296" cy="82296"/>
          </a:xfrm>
          <a:prstGeom prst="ellipse">
            <a:avLst/>
          </a:prstGeom>
          <a:solidFill>
            <a:srgbClr val="D551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54803" y="2377439"/>
            <a:ext cx="105704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1F2933"/>
                </a:solidFill>
                <a:latin typeface="Arial"/>
              </a:rPr>
              <a:t>INT8  GPTQ W8A16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5001" y="2377439"/>
            <a:ext cx="1602028" cy="237744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15875">
            <a:solidFill>
              <a:srgbClr val="C98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4437" y="2455164"/>
            <a:ext cx="82296" cy="82296"/>
          </a:xfrm>
          <a:prstGeom prst="ellipse">
            <a:avLst/>
          </a:prstGeom>
          <a:solidFill>
            <a:srgbClr val="C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67881" y="2377439"/>
            <a:ext cx="141914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1F2933"/>
                </a:solidFill>
                <a:latin typeface="Arial"/>
              </a:rPr>
              <a:t>INT4  AWQ / GPTQ W4A16</a:t>
            </a:r>
          </a:p>
        </p:txBody>
      </p:sp>
      <p:sp>
        <p:nvSpPr>
          <p:cNvPr id="36" name="Rounded Rectangle 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2935224"/>
            <a:ext cx="5440680" cy="1225295"/>
          </a:xfrm>
          <a:prstGeom prst="roundRect">
            <a:avLst>
              <a:gd name="adj" fmla="val 597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74136" y="3017520"/>
            <a:ext cx="292608" cy="292608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509" y="3081893"/>
            <a:ext cx="163860" cy="16386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758184" y="3017520"/>
            <a:ext cx="4837176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003865"/>
                </a:solidFill>
                <a:latin typeface="Arial"/>
              </a:rPr>
              <a:t>Workloads and metrics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92424" y="3374136"/>
            <a:ext cx="5166360" cy="7680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3865"/>
                </a:solidFill>
                <a:latin typeface="Arial"/>
              </a:rPr>
              <a:t>Controlled sweep: </a:t>
            </a:r>
            <a:r>
              <a:rPr sz="900" b="0" i="0">
                <a:solidFill>
                  <a:srgbClr val="1F2933"/>
                </a:solidFill>
                <a:latin typeface="Arial"/>
              </a:rPr>
              <a:t>batch 1–256 × prompt 128–2048 tokens, exactly 128 output tokens</a:t>
            </a:r>
          </a:p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3865"/>
                </a:solidFill>
                <a:latin typeface="Arial"/>
              </a:rPr>
              <a:t>Real workload: </a:t>
            </a:r>
            <a:r>
              <a:rPr sz="900" b="0" i="0">
                <a:solidFill>
                  <a:srgbClr val="1F2933"/>
                </a:solidFill>
                <a:latin typeface="Arial"/>
              </a:rPr>
              <a:t>300 ShareGPT requests (fixed seed), 1–64 concurrent clients</a:t>
            </a:r>
          </a:p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3865"/>
                </a:solidFill>
                <a:latin typeface="Arial"/>
              </a:rPr>
              <a:t>Quality: </a:t>
            </a:r>
            <a:r>
              <a:rPr sz="900" b="0" i="0">
                <a:solidFill>
                  <a:srgbClr val="1F2933"/>
                </a:solidFill>
                <a:latin typeface="Arial"/>
              </a:rPr>
              <a:t>WikiText-2 perplexity, GSM8K (all 1,319 questions)</a:t>
            </a:r>
          </a:p>
          <a:p>
            <a:pPr algn="l"/>
            <a:r>
              <a:rPr sz="900" b="1" i="0">
                <a:solidFill>
                  <a:srgbClr val="003865"/>
                </a:solidFill>
                <a:latin typeface="Arial"/>
              </a:rPr>
              <a:t>Metrics: </a:t>
            </a:r>
            <a:r>
              <a:rPr sz="900" b="0" i="0">
                <a:solidFill>
                  <a:srgbClr val="1F2933"/>
                </a:solidFill>
                <a:latin typeface="Arial"/>
              </a:rPr>
              <a:t>peak memory, TTFT, TPOT, tokens/s, energy (J/token); 1 warm-up + 3 repeats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8229600" cy="603504"/>
          </a:xfrm>
        </p:spPr>
        <p:txBody>
          <a:bodyPr/>
          <a:lstStyle/>
          <a:p>
            <a:r>
              <a:rPr sz="2800"/>
              <a:t>Q1 — Memory: Smaller, but Not 4× Smaller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>
          <a:xfrm>
            <a:off x="457200" y="694944"/>
            <a:ext cx="8229600" cy="310896"/>
          </a:xfrm>
        </p:spPr>
        <p:txBody>
          <a:bodyPr/>
          <a:lstStyle/>
          <a:p>
            <a:r>
              <a:rPr sz="1400"/>
              <a:t>Only the linear layers shrink; embeddings, LM head, KV cache and activations do not</a:t>
            </a:r>
          </a:p>
        </p:txBody>
      </p:sp>
      <p:pic>
        <p:nvPicPr>
          <p:cNvPr id="4" name="Picture 3" descr="Peak memory breakdown and memory saving versus tokens in fl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43070"/>
            <a:ext cx="5715000" cy="2208234"/>
          </a:xfrm>
          <a:prstGeom prst="rect">
            <a:avLst/>
          </a:prstGeom>
        </p:spPr>
      </p:pic>
      <p:sp>
        <p:nvSpPr>
          <p:cNvPr id="5" name="Rounded 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0" y="1133856"/>
            <a:ext cx="2377439" cy="947927"/>
          </a:xfrm>
          <a:prstGeom prst="roundRect">
            <a:avLst>
              <a:gd name="adj" fmla="val 7717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37376" y="1207008"/>
            <a:ext cx="2157983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Arial"/>
              </a:rPr>
              <a:t>2.60×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7376" y="1591056"/>
            <a:ext cx="2157983" cy="4358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F2933"/>
                </a:solidFill>
                <a:latin typeface="Arial"/>
              </a:rPr>
              <a:t>NF4 weight saving on Qwen2.5-7B</a:t>
            </a:r>
          </a:p>
          <a:p>
            <a:pPr algn="l"/>
            <a:r>
              <a:rPr sz="750" b="0" i="0">
                <a:solidFill>
                  <a:srgbClr val="5B6770"/>
                </a:solidFill>
                <a:latin typeface="Arial"/>
              </a:rPr>
              <a:t>nominal 4× — LM head + embeddings stay 16-bit</a:t>
            </a:r>
          </a:p>
        </p:txBody>
      </p:sp>
      <p:sp>
        <p:nvSpPr>
          <p:cNvPr id="8" name="Rounded 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0" y="2173224"/>
            <a:ext cx="2377439" cy="947927"/>
          </a:xfrm>
          <a:prstGeom prst="roundRect">
            <a:avLst>
              <a:gd name="adj" fmla="val 7717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7376" y="2246376"/>
            <a:ext cx="2157983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Arial"/>
              </a:rPr>
              <a:t>1.49×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2630424"/>
            <a:ext cx="2157983" cy="4358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F2933"/>
                </a:solidFill>
                <a:latin typeface="Arial"/>
              </a:rPr>
              <a:t>NF4 end-to-end saving at B=32, L=2048</a:t>
            </a:r>
          </a:p>
          <a:p>
            <a:pPr algn="l"/>
            <a:r>
              <a:rPr sz="750" b="0" i="0">
                <a:solidFill>
                  <a:srgbClr val="5B6770"/>
                </a:solidFill>
                <a:latin typeface="Arial"/>
              </a:rPr>
              <a:t>KV cache and activations are not quantized</a:t>
            </a:r>
          </a:p>
        </p:txBody>
      </p:sp>
      <p:sp>
        <p:nvSpPr>
          <p:cNvPr id="11" name="Rounded 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0" y="3212591"/>
            <a:ext cx="2377439" cy="947927"/>
          </a:xfrm>
          <a:prstGeom prst="roundRect">
            <a:avLst>
              <a:gd name="adj" fmla="val 7717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3285743"/>
            <a:ext cx="2157983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Arial"/>
              </a:rPr>
              <a:t>1.88×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3669791"/>
            <a:ext cx="2157983" cy="4358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F2933"/>
                </a:solidFill>
                <a:latin typeface="Arial"/>
              </a:rPr>
              <a:t>more KV-cache tokens in vLLM with AWQ-INT4</a:t>
            </a:r>
          </a:p>
          <a:p>
            <a:pPr algn="l"/>
            <a:r>
              <a:rPr sz="750" b="0" i="0">
                <a:solidFill>
                  <a:srgbClr val="5B6770"/>
                </a:solidFill>
                <a:latin typeface="Arial"/>
              </a:rPr>
              <a:t>freed memory = more concurrent requests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8229600" cy="603504"/>
          </a:xfrm>
        </p:spPr>
        <p:txBody>
          <a:bodyPr/>
          <a:lstStyle/>
          <a:p>
            <a:r>
              <a:rPr sz="2800"/>
              <a:t>Q2 — Speed Depends on the Kernel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>
          <a:xfrm>
            <a:off x="457200" y="694944"/>
            <a:ext cx="8229600" cy="310896"/>
          </a:xfrm>
        </p:spPr>
        <p:txBody>
          <a:bodyPr/>
          <a:lstStyle/>
          <a:p>
            <a:r>
              <a:rPr sz="1400"/>
              <a:t>Qwen2.5-7B: same 4-bit weights, opposite outcomes on two software stacks</a:t>
            </a:r>
          </a:p>
        </p:txBody>
      </p:sp>
      <p:pic>
        <p:nvPicPr>
          <p:cNvPr id="4" name="Picture 3" descr="TTFT, decode latency and throughput of eight configurations for Qwen2.5-7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613" y="1133856"/>
            <a:ext cx="6404772" cy="2048255"/>
          </a:xfrm>
          <a:prstGeom prst="rect">
            <a:avLst/>
          </a:prstGeom>
        </p:spPr>
      </p:pic>
      <p:sp>
        <p:nvSpPr>
          <p:cNvPr id="5" name="Rounded 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291839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3364991"/>
            <a:ext cx="2432304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Arial"/>
              </a:rPr>
              <a:t>2.44× faster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3749039"/>
            <a:ext cx="2432304" cy="3566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F2933"/>
                </a:solidFill>
                <a:latin typeface="Arial"/>
              </a:rPr>
              <a:t>AWQ-INT4 decode on vLLM (B=1)</a:t>
            </a:r>
          </a:p>
          <a:p>
            <a:pPr algn="l"/>
            <a:r>
              <a:rPr sz="750" b="0" i="0">
                <a:solidFill>
                  <a:srgbClr val="5B6770"/>
                </a:solidFill>
                <a:latin typeface="Arial"/>
              </a:rPr>
              <a:t>Marlin kernel: fewer bytes = less time</a:t>
            </a:r>
          </a:p>
        </p:txBody>
      </p:sp>
      <p:sp>
        <p:nvSpPr>
          <p:cNvPr id="8" name="Rounded 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3291839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4136" y="3364991"/>
            <a:ext cx="2432304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Arial"/>
              </a:rPr>
              <a:t>3.4× slower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4136" y="3749039"/>
            <a:ext cx="2432304" cy="3566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F2933"/>
                </a:solidFill>
                <a:latin typeface="Arial"/>
              </a:rPr>
              <a:t>LLM.int8() decode on HF (B=1)</a:t>
            </a:r>
          </a:p>
          <a:p>
            <a:pPr algn="l"/>
            <a:r>
              <a:rPr sz="750" b="0" i="0">
                <a:solidFill>
                  <a:srgbClr val="5B6770"/>
                </a:solidFill>
                <a:latin typeface="Arial"/>
              </a:rPr>
              <a:t>outliers + kernel-launch overhead</a:t>
            </a:r>
          </a:p>
        </p:txBody>
      </p:sp>
      <p:sp>
        <p:nvSpPr>
          <p:cNvPr id="11" name="Rounded 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3291839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63055" y="3364991"/>
            <a:ext cx="2432304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Arial"/>
              </a:rPr>
              <a:t>1.73×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3055" y="3749039"/>
            <a:ext cx="2432304" cy="3566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F2933"/>
                </a:solidFill>
                <a:latin typeface="Arial"/>
              </a:rPr>
              <a:t>FP8 W8A8 throughput at B=256</a:t>
            </a:r>
          </a:p>
          <a:p>
            <a:pPr algn="l"/>
            <a:r>
              <a:rPr sz="750" b="0" i="0">
                <a:solidFill>
                  <a:srgbClr val="5B6770"/>
                </a:solidFill>
                <a:latin typeface="Arial"/>
              </a:rPr>
              <a:t>AWQ-INT4 there: no faster than BF16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8229600" cy="603504"/>
          </a:xfrm>
        </p:spPr>
        <p:txBody>
          <a:bodyPr/>
          <a:lstStyle/>
          <a:p>
            <a:r>
              <a:rPr sz="2800"/>
              <a:t>Q3 — When Does Lower Precision Pay Off?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>
          <a:xfrm>
            <a:off x="457200" y="694944"/>
            <a:ext cx="8229600" cy="310896"/>
          </a:xfrm>
        </p:spPr>
        <p:txBody>
          <a:bodyPr/>
          <a:lstStyle/>
          <a:p>
            <a:r>
              <a:rPr sz="1400"/>
              <a:t>End-to-end speedup over BF16 across batch size × prompt length (Qwen2.5-7B)</a:t>
            </a:r>
          </a:p>
        </p:txBody>
      </p:sp>
      <p:pic>
        <p:nvPicPr>
          <p:cNvPr id="4" name="Picture 3" descr="Heatmaps of end-to-end speedup versus BF16 over batch size and prompt lengt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33856"/>
            <a:ext cx="5450991" cy="3026663"/>
          </a:xfrm>
          <a:prstGeom prst="rect">
            <a:avLst/>
          </a:prstGeom>
        </p:spPr>
      </p:pic>
      <p:sp>
        <p:nvSpPr>
          <p:cNvPr id="5" name="Rounded 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5351" y="1133856"/>
            <a:ext cx="2641448" cy="947927"/>
          </a:xfrm>
          <a:prstGeom prst="roundRect">
            <a:avLst>
              <a:gd name="adj" fmla="val 7717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3367" y="1207008"/>
            <a:ext cx="242199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Arial"/>
              </a:rPr>
              <a:t>B ≈ 175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3367" y="1591056"/>
            <a:ext cx="2421992" cy="4358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F2933"/>
                </a:solidFill>
                <a:latin typeface="Arial"/>
              </a:rPr>
              <a:t>AWQ-INT4 stops winning (prompt 512)</a:t>
            </a:r>
          </a:p>
          <a:p>
            <a:pPr algn="l"/>
            <a:r>
              <a:rPr sz="750" b="0" i="0">
                <a:solidFill>
                  <a:srgbClr val="5B6770"/>
                </a:solidFill>
                <a:latin typeface="Arial"/>
              </a:rPr>
              <a:t>decode turns compute-bound; dequant no longer hidden</a:t>
            </a:r>
          </a:p>
        </p:txBody>
      </p:sp>
      <p:sp>
        <p:nvSpPr>
          <p:cNvPr id="8" name="Rounded 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5351" y="2173224"/>
            <a:ext cx="2641448" cy="947927"/>
          </a:xfrm>
          <a:prstGeom prst="roundRect">
            <a:avLst>
              <a:gd name="adj" fmla="val 7717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3367" y="2246376"/>
            <a:ext cx="242199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Arial"/>
              </a:rPr>
              <a:t>1.59–1.80×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3367" y="2630424"/>
            <a:ext cx="2421992" cy="4358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F2933"/>
                </a:solidFill>
                <a:latin typeface="Arial"/>
              </a:rPr>
              <a:t>FP8 W8A8 faster in every cell</a:t>
            </a:r>
          </a:p>
          <a:p>
            <a:pPr algn="l"/>
            <a:r>
              <a:rPr sz="750" b="0" i="0">
                <a:solidFill>
                  <a:srgbClr val="5B6770"/>
                </a:solidFill>
                <a:latin typeface="Arial"/>
              </a:rPr>
              <a:t>halves bytes and doubles tensor-core rate</a:t>
            </a:r>
          </a:p>
        </p:txBody>
      </p:sp>
      <p:sp>
        <p:nvSpPr>
          <p:cNvPr id="11" name="Rounded 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5351" y="3212591"/>
            <a:ext cx="2641448" cy="947927"/>
          </a:xfrm>
          <a:prstGeom prst="roundRect">
            <a:avLst>
              <a:gd name="adj" fmla="val 7717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3367" y="3285743"/>
            <a:ext cx="242199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Arial"/>
              </a:rPr>
              <a:t>0.27–0.71×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3367" y="3669791"/>
            <a:ext cx="2421992" cy="4358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F2933"/>
                </a:solidFill>
                <a:latin typeface="Arial"/>
              </a:rPr>
              <a:t>bnb LLM.int8(): slower in every cell</a:t>
            </a:r>
          </a:p>
          <a:p>
            <a:pPr algn="l"/>
            <a:r>
              <a:rPr sz="750" b="0" i="0">
                <a:solidFill>
                  <a:srgbClr val="5B6770"/>
                </a:solidFill>
                <a:latin typeface="Arial"/>
              </a:rPr>
              <a:t>never pays off on this GPU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8229600" cy="603504"/>
          </a:xfrm>
        </p:spPr>
        <p:txBody>
          <a:bodyPr/>
          <a:lstStyle/>
          <a:p>
            <a:r>
              <a:rPr sz="2800"/>
              <a:t>Why 4-bit Stops Winning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>
          <a:xfrm>
            <a:off x="457200" y="694944"/>
            <a:ext cx="8229600" cy="310896"/>
          </a:xfrm>
        </p:spPr>
        <p:txBody>
          <a:bodyPr/>
          <a:lstStyle/>
          <a:p>
            <a:r>
              <a:rPr sz="1400"/>
              <a:t>One decoder layer's GEMMs vs. tokens in the batch, and the same kernels on the measured roofline</a:t>
            </a:r>
          </a:p>
        </p:txBody>
      </p:sp>
      <p:pic>
        <p:nvPicPr>
          <p:cNvPr id="4" name="Picture 3" descr="Linear-layer kernel speedup versus batch size and roofline pl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946" y="1133856"/>
            <a:ext cx="5460106" cy="2048256"/>
          </a:xfrm>
          <a:prstGeom prst="rect">
            <a:avLst/>
          </a:prstGeom>
        </p:spPr>
      </p:pic>
      <p:sp>
        <p:nvSpPr>
          <p:cNvPr id="5" name="Rounded 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291839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3364991"/>
            <a:ext cx="2432304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Arial"/>
              </a:rPr>
              <a:t>3.2×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3749039"/>
            <a:ext cx="2432304" cy="3566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F2933"/>
                </a:solidFill>
                <a:latin typeface="Arial"/>
              </a:rPr>
              <a:t>Marlin W4A16 vs cuBLAS at M = 1</a:t>
            </a:r>
          </a:p>
          <a:p>
            <a:pPr algn="l"/>
            <a:r>
              <a:rPr sz="750" b="0" i="0">
                <a:solidFill>
                  <a:srgbClr val="5B6770"/>
                </a:solidFill>
                <a:latin typeface="Arial"/>
              </a:rPr>
              <a:t>memory-bound: 4x fewer bytes</a:t>
            </a:r>
          </a:p>
        </p:txBody>
      </p:sp>
      <p:sp>
        <p:nvSpPr>
          <p:cNvPr id="8" name="Rounded 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3291839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4136" y="3364991"/>
            <a:ext cx="2432304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Arial"/>
              </a:rPr>
              <a:t>M ≈ 333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4136" y="3749039"/>
            <a:ext cx="2432304" cy="3566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F2933"/>
                </a:solidFill>
                <a:latin typeface="Arial"/>
              </a:rPr>
              <a:t>W4A16 advantage shrinks below 5%</a:t>
            </a:r>
          </a:p>
          <a:p>
            <a:pPr algn="l"/>
            <a:r>
              <a:rPr sz="750" b="0" i="0">
                <a:solidFill>
                  <a:srgbClr val="5B6770"/>
                </a:solidFill>
                <a:latin typeface="Arial"/>
              </a:rPr>
              <a:t>compute-bound: dequant no longer hidden</a:t>
            </a:r>
          </a:p>
        </p:txBody>
      </p:sp>
      <p:sp>
        <p:nvSpPr>
          <p:cNvPr id="11" name="Rounded 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3291839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63055" y="3364991"/>
            <a:ext cx="2432304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Arial"/>
              </a:rPr>
              <a:t>1.9×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3055" y="3749039"/>
            <a:ext cx="2432304" cy="3566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F2933"/>
                </a:solidFill>
                <a:latin typeface="Arial"/>
              </a:rPr>
              <a:t>FP8 W8A8 at M = 8192</a:t>
            </a:r>
          </a:p>
          <a:p>
            <a:pPr algn="l"/>
            <a:r>
              <a:rPr sz="750" b="0" i="0">
                <a:solidFill>
                  <a:srgbClr val="5B6770"/>
                </a:solidFill>
                <a:latin typeface="Arial"/>
              </a:rPr>
              <a:t>8-bit tensor cores: 2x the BF16 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8229600" cy="603504"/>
          </a:xfrm>
        </p:spPr>
        <p:txBody>
          <a:bodyPr/>
          <a:lstStyle/>
          <a:p>
            <a:r>
              <a:rPr sz="2800"/>
              <a:t>Why bitsandbytes Is Slow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>
          <a:xfrm>
            <a:off x="457200" y="694944"/>
            <a:ext cx="8229600" cy="310896"/>
          </a:xfrm>
        </p:spPr>
        <p:txBody>
          <a:bodyPr/>
          <a:lstStyle/>
          <a:p>
            <a:r>
              <a:rPr sz="1400"/>
              <a:t>One HF decode step of Qwen2.5-7B: GPU kernel time vs. time the GPU waits for the host</a:t>
            </a:r>
          </a:p>
        </p:txBody>
      </p:sp>
      <p:pic>
        <p:nvPicPr>
          <p:cNvPr id="4" name="Picture 3" descr="Decode step time breakdown by kernel catego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97618"/>
            <a:ext cx="5577840" cy="2499138"/>
          </a:xfrm>
          <a:prstGeom prst="rect">
            <a:avLst/>
          </a:prstGeom>
        </p:spPr>
      </p:pic>
      <p:sp>
        <p:nvSpPr>
          <p:cNvPr id="5" name="Rounded 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1133856"/>
            <a:ext cx="2514600" cy="947927"/>
          </a:xfrm>
          <a:prstGeom prst="roundRect">
            <a:avLst>
              <a:gd name="adj" fmla="val 7717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0216" y="1207008"/>
            <a:ext cx="2295144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Arial"/>
              </a:rPr>
              <a:t>97% → 28%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216" y="1591056"/>
            <a:ext cx="2295144" cy="4358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F2933"/>
                </a:solidFill>
                <a:latin typeface="Arial"/>
              </a:rPr>
              <a:t>GPU busy time per step: BF16 → INT8 (B=1)</a:t>
            </a:r>
          </a:p>
          <a:p>
            <a:pPr algn="l"/>
            <a:r>
              <a:rPr sz="750" b="0" i="0">
                <a:solidFill>
                  <a:srgbClr val="5B6770"/>
                </a:solidFill>
                <a:latin typeface="Arial"/>
              </a:rPr>
              <a:t>the rest is host overhead</a:t>
            </a:r>
          </a:p>
        </p:txBody>
      </p:sp>
      <p:sp>
        <p:nvSpPr>
          <p:cNvPr id="8" name="Rounded 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2173224"/>
            <a:ext cx="2514600" cy="947927"/>
          </a:xfrm>
          <a:prstGeom prst="roundRect">
            <a:avLst>
              <a:gd name="adj" fmla="val 7717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216" y="2246376"/>
            <a:ext cx="2295144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Arial"/>
              </a:rPr>
              <a:t>3.7×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0216" y="2630424"/>
            <a:ext cx="2295144" cy="4358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F2933"/>
                </a:solidFill>
                <a:latin typeface="Arial"/>
              </a:rPr>
              <a:t>more kernel launches per step with LLM.int8()</a:t>
            </a:r>
          </a:p>
          <a:p>
            <a:pPr algn="l"/>
            <a:r>
              <a:rPr sz="750" b="0" i="0">
                <a:solidFill>
                  <a:srgbClr val="5B6770"/>
                </a:solidFill>
                <a:latin typeface="Arial"/>
              </a:rPr>
              <a:t>casts, outliers, quantize, 2 GEMMs per layer</a:t>
            </a:r>
          </a:p>
        </p:txBody>
      </p:sp>
      <p:sp>
        <p:nvSpPr>
          <p:cNvPr id="11" name="Rounded 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3212591"/>
            <a:ext cx="2514600" cy="947927"/>
          </a:xfrm>
          <a:prstGeom prst="roundRect">
            <a:avLst>
              <a:gd name="adj" fmla="val 7717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3285743"/>
            <a:ext cx="2295144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Arial"/>
              </a:rPr>
              <a:t>1.13×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3669791"/>
            <a:ext cx="2295144" cy="4358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F2933"/>
                </a:solidFill>
                <a:latin typeface="Arial"/>
              </a:rPr>
              <a:t>NF4 end-to-end vs BF16 (7B, B=1)</a:t>
            </a:r>
          </a:p>
          <a:p>
            <a:pPr algn="l"/>
            <a:r>
              <a:rPr sz="750" b="0" i="0">
                <a:solidFill>
                  <a:srgbClr val="5B6770"/>
                </a:solidFill>
                <a:latin typeface="Arial"/>
              </a:rPr>
              <a:t>its GEMV kernel alone: 2.4×; GPU busy 49%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8229600" cy="603504"/>
          </a:xfrm>
        </p:spPr>
        <p:txBody>
          <a:bodyPr/>
          <a:lstStyle/>
          <a:p>
            <a:r>
              <a:rPr sz="2800"/>
              <a:t>Real Workload: 300 ShareGPT Requests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>
          <a:xfrm>
            <a:off x="457200" y="694944"/>
            <a:ext cx="8229600" cy="310896"/>
          </a:xfrm>
        </p:spPr>
        <p:txBody>
          <a:bodyPr/>
          <a:lstStyle/>
          <a:p>
            <a:r>
              <a:rPr sz="1400"/>
              <a:t>Qwen2.5-7B served by vLLM (1–64 concurrent clients) vs. HF static batching (B = 16)</a:t>
            </a:r>
          </a:p>
        </p:txBody>
      </p:sp>
      <p:pic>
        <p:nvPicPr>
          <p:cNvPr id="4" name="Picture 3" descr="ShareGPT serving throughput, TPOT and TTFT versus concurrenc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211" y="1133856"/>
            <a:ext cx="6147577" cy="2048256"/>
          </a:xfrm>
          <a:prstGeom prst="rect">
            <a:avLst/>
          </a:prstGeom>
        </p:spPr>
      </p:pic>
      <p:sp>
        <p:nvSpPr>
          <p:cNvPr id="5" name="Rounded 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291839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3364991"/>
            <a:ext cx="2432304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Arial"/>
              </a:rPr>
              <a:t>2.36×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3749039"/>
            <a:ext cx="2432304" cy="3566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F2933"/>
                </a:solidFill>
                <a:latin typeface="Arial"/>
              </a:rPr>
              <a:t>lower median TPOT with AWQ-INT4 (1 client)</a:t>
            </a:r>
          </a:p>
          <a:p>
            <a:pPr algn="l"/>
            <a:r>
              <a:rPr sz="750" b="0" i="0">
                <a:solidFill>
                  <a:srgbClr val="5B6770"/>
                </a:solidFill>
                <a:latin typeface="Arial"/>
              </a:rPr>
              <a:t>4.1 vs 9.6 ms per token</a:t>
            </a:r>
          </a:p>
        </p:txBody>
      </p:sp>
      <p:sp>
        <p:nvSpPr>
          <p:cNvPr id="8" name="Rounded 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3291839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4136" y="3364991"/>
            <a:ext cx="2432304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Arial"/>
              </a:rPr>
              <a:t>5,388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4136" y="3749039"/>
            <a:ext cx="2432304" cy="3566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F2933"/>
                </a:solidFill>
                <a:latin typeface="Arial"/>
              </a:rPr>
              <a:t>tokens/s with FP8 at 64 clients</a:t>
            </a:r>
          </a:p>
          <a:p>
            <a:pPr algn="l"/>
            <a:r>
              <a:rPr sz="750" b="0" i="0">
                <a:solidFill>
                  <a:srgbClr val="5B6770"/>
                </a:solidFill>
                <a:latin typeface="Arial"/>
              </a:rPr>
              <a:t>BF16: 3,537 · AWQ: 5,180</a:t>
            </a:r>
          </a:p>
        </p:txBody>
      </p:sp>
      <p:sp>
        <p:nvSpPr>
          <p:cNvPr id="11" name="Rounded 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3291839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63055" y="3364991"/>
            <a:ext cx="2432304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Arial"/>
              </a:rPr>
              <a:t>5.3×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3055" y="3749039"/>
            <a:ext cx="2432304" cy="3566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F2933"/>
                </a:solidFill>
                <a:latin typeface="Arial"/>
              </a:rPr>
              <a:t>vLLM BF16 vs HF BF16 throughput at 16 in flight</a:t>
            </a:r>
          </a:p>
          <a:p>
            <a:pPr algn="l"/>
            <a:r>
              <a:rPr sz="750" b="0" i="0">
                <a:solidFill>
                  <a:srgbClr val="5B6770"/>
                </a:solidFill>
                <a:latin typeface="Arial"/>
              </a:rPr>
              <a:t>the serving stack outweighs the bit-width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8229600" cy="603504"/>
          </a:xfrm>
        </p:spPr>
        <p:txBody>
          <a:bodyPr/>
          <a:lstStyle/>
          <a:p>
            <a:r>
              <a:rPr sz="2800"/>
              <a:t>Q4 — Quality: What Do We Lose?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>
          <a:xfrm>
            <a:off x="457200" y="694944"/>
            <a:ext cx="8229600" cy="310896"/>
          </a:xfrm>
        </p:spPr>
        <p:txBody>
          <a:bodyPr/>
          <a:lstStyle/>
          <a:p>
            <a:r>
              <a:rPr sz="1400"/>
              <a:t>GSM8K accuracy (1,319 questions) and WikiText-2 perplexity vs. weight memory</a:t>
            </a:r>
          </a:p>
        </p:txBody>
      </p:sp>
      <p:pic>
        <p:nvPicPr>
          <p:cNvPr id="4" name="Picture 3" descr="GSM8K accuracy and perplexity versus weight memo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7475"/>
            <a:ext cx="5669280" cy="2239424"/>
          </a:xfrm>
          <a:prstGeom prst="rect">
            <a:avLst/>
          </a:prstGeom>
        </p:spPr>
      </p:pic>
      <p:sp>
        <p:nvSpPr>
          <p:cNvPr id="5" name="Rounded 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63640" y="1133856"/>
            <a:ext cx="2423159" cy="947927"/>
          </a:xfrm>
          <a:prstGeom prst="roundRect">
            <a:avLst>
              <a:gd name="adj" fmla="val 7717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91656" y="1207008"/>
            <a:ext cx="2203703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Arial"/>
              </a:rPr>
              <a:t>-0.2 to +0.9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91656" y="1591056"/>
            <a:ext cx="2203703" cy="4358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F2933"/>
                </a:solidFill>
                <a:latin typeface="Arial"/>
              </a:rPr>
              <a:t>GSM8K change with 8-bit formats (7B)</a:t>
            </a:r>
          </a:p>
          <a:p>
            <a:pPr algn="l"/>
            <a:r>
              <a:rPr sz="750" b="0" i="0">
                <a:solidFill>
                  <a:srgbClr val="5B6770"/>
                </a:solidFill>
                <a:latin typeface="Arial"/>
              </a:rPr>
              <a:t>1 of 3 significant (McNemar p &lt; 0.05)</a:t>
            </a:r>
          </a:p>
        </p:txBody>
      </p:sp>
      <p:sp>
        <p:nvSpPr>
          <p:cNvPr id="8" name="Rounded 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63640" y="2173224"/>
            <a:ext cx="2423159" cy="947927"/>
          </a:xfrm>
          <a:prstGeom prst="roundRect">
            <a:avLst>
              <a:gd name="adj" fmla="val 7717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1656" y="2246376"/>
            <a:ext cx="2203703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Arial"/>
              </a:rPr>
              <a:t>-0.5 to +0.2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656" y="2630424"/>
            <a:ext cx="2203703" cy="4358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F2933"/>
                </a:solidFill>
                <a:latin typeface="Arial"/>
              </a:rPr>
              <a:t>GSM8K change with 4-bit formats (7B)</a:t>
            </a:r>
          </a:p>
          <a:p>
            <a:pPr algn="l"/>
            <a:r>
              <a:rPr sz="750" b="0" i="0">
                <a:solidFill>
                  <a:srgbClr val="5B6770"/>
                </a:solidFill>
                <a:latin typeface="Arial"/>
              </a:rPr>
              <a:t>none significant (McNemar p ≥ 0.05)</a:t>
            </a:r>
          </a:p>
        </p:txBody>
      </p:sp>
      <p:sp>
        <p:nvSpPr>
          <p:cNvPr id="11" name="Rounded 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63640" y="3212591"/>
            <a:ext cx="2423159" cy="947927"/>
          </a:xfrm>
          <a:prstGeom prst="roundRect">
            <a:avLst>
              <a:gd name="adj" fmla="val 7717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1656" y="3285743"/>
            <a:ext cx="2203703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003865"/>
                </a:solidFill>
                <a:latin typeface="Arial"/>
              </a:rPr>
              <a:t>93.9% vs 90.8%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3669791"/>
            <a:ext cx="2203703" cy="4358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F2933"/>
                </a:solidFill>
                <a:latin typeface="Arial"/>
              </a:rPr>
              <a:t>14B AWQ-INT4 vs 7B BF16 on GSM8K</a:t>
            </a:r>
          </a:p>
          <a:p>
            <a:pPr algn="l"/>
            <a:r>
              <a:rPr sz="750" b="0" i="0">
                <a:solidFill>
                  <a:srgbClr val="5B6770"/>
                </a:solidFill>
                <a:latin typeface="Arial"/>
              </a:rPr>
              <a:t>0.66× the weight memory of 7B BF16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8229600" cy="603504"/>
          </a:xfrm>
        </p:spPr>
        <p:txBody>
          <a:bodyPr/>
          <a:lstStyle/>
          <a:p>
            <a:r>
              <a:rPr sz="2800"/>
              <a:t>Takeaways: When Does Quantization Pay Off?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>
          <a:xfrm>
            <a:off x="457200" y="694944"/>
            <a:ext cx="8229600" cy="310896"/>
          </a:xfrm>
        </p:spPr>
        <p:txBody>
          <a:bodyPr/>
          <a:lstStyle/>
          <a:p>
            <a:r>
              <a:rPr sz="1400"/>
              <a:t>Bit-width alone predicts little — the kernel and the regime decide</a:t>
            </a:r>
          </a:p>
        </p:txBody>
      </p:sp>
      <p:sp>
        <p:nvSpPr>
          <p:cNvPr id="4" name="Rounded 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133856"/>
            <a:ext cx="4041648" cy="1417320"/>
          </a:xfrm>
          <a:prstGeom prst="roundRect">
            <a:avLst>
              <a:gd name="adj" fmla="val 5161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6" y="1280160"/>
            <a:ext cx="402336" cy="402336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29" y="1368673"/>
            <a:ext cx="225308" cy="2253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" y="1261872"/>
            <a:ext cx="3255264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003865"/>
                </a:solidFill>
                <a:latin typeface="Arial"/>
              </a:rPr>
              <a:t>Plan memory with the real ratio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92224"/>
            <a:ext cx="14173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00599B"/>
                </a:solidFill>
                <a:latin typeface="Arial"/>
              </a:rPr>
              <a:t>2.6×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773936"/>
            <a:ext cx="2258568" cy="7040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Arial"/>
              </a:rPr>
              <a:t>4-bit weight saving on Qwen2.5-7B, not 4×; KV cache and activations stay 16-bit</a:t>
            </a:r>
          </a:p>
        </p:txBody>
      </p:sp>
      <p:sp>
        <p:nvSpPr>
          <p:cNvPr id="10" name="Rounded 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133856"/>
            <a:ext cx="4041648" cy="1417320"/>
          </a:xfrm>
          <a:prstGeom prst="roundRect">
            <a:avLst>
              <a:gd name="adj" fmla="val 5161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73168" y="1280160"/>
            <a:ext cx="402336" cy="402336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681" y="1368673"/>
            <a:ext cx="225308" cy="2253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03520" y="1261872"/>
            <a:ext cx="3255264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003865"/>
                </a:solidFill>
                <a:latin typeface="Arial"/>
              </a:rPr>
              <a:t>Few users: 4-bit + fused kernel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1792224"/>
            <a:ext cx="14173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00599B"/>
                </a:solidFill>
                <a:latin typeface="Arial"/>
              </a:rPr>
              <a:t>2.4×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1773936"/>
            <a:ext cx="2258568" cy="7040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Arial"/>
              </a:rPr>
              <a:t>faster decode with AWQ-INT4 + Marlin at batch size 1</a:t>
            </a:r>
          </a:p>
        </p:txBody>
      </p:sp>
      <p:sp>
        <p:nvSpPr>
          <p:cNvPr id="16" name="Rounded 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697480"/>
            <a:ext cx="4041648" cy="1417320"/>
          </a:xfrm>
          <a:prstGeom prst="roundRect">
            <a:avLst>
              <a:gd name="adj" fmla="val 5161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6" y="2843784"/>
            <a:ext cx="402336" cy="402336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729" y="2932297"/>
            <a:ext cx="225308" cy="2253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15568" y="2825496"/>
            <a:ext cx="3255264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003865"/>
                </a:solidFill>
                <a:latin typeface="Arial"/>
              </a:rPr>
              <a:t>High throughput: FP8 W8A8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355848"/>
            <a:ext cx="14173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00599B"/>
                </a:solidFill>
                <a:latin typeface="Arial"/>
              </a:rPr>
              <a:t>1.7×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337560"/>
            <a:ext cx="2258568" cy="7040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Arial"/>
              </a:rPr>
              <a:t>the BF16 throughput at batch 256, where 4-bit weight-only gains have vanished</a:t>
            </a:r>
          </a:p>
        </p:txBody>
      </p:sp>
      <p:sp>
        <p:nvSpPr>
          <p:cNvPr id="22" name="Rounded 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2697480"/>
            <a:ext cx="4041648" cy="1417320"/>
          </a:xfrm>
          <a:prstGeom prst="roundRect">
            <a:avLst>
              <a:gd name="adj" fmla="val 5161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73168" y="2843784"/>
            <a:ext cx="402336" cy="402336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1681" y="2932297"/>
            <a:ext cx="225308" cy="2253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03520" y="2825496"/>
            <a:ext cx="3255264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003865"/>
                </a:solidFill>
                <a:latin typeface="Arial"/>
              </a:rPr>
              <a:t>bitsandbytes: memory, not speed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8032" y="3355848"/>
            <a:ext cx="14173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00599B"/>
                </a:solidFill>
                <a:latin typeface="Arial"/>
              </a:rPr>
              <a:t>3.4×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3337560"/>
            <a:ext cx="2258568" cy="7040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 b="0" i="0">
                <a:solidFill>
                  <a:srgbClr val="1F2933"/>
                </a:solidFill>
                <a:latin typeface="Arial"/>
              </a:rPr>
              <a:t>slower decode with LLM.int8() at batch size 1; NF4 wins only tiny batches of large models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8229600" cy="603504"/>
          </a:xfrm>
        </p:spPr>
        <p:txBody>
          <a:bodyPr/>
          <a:lstStyle/>
          <a:p>
            <a:r>
              <a:rPr sz="2800"/>
              <a:t>Team and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>
          <a:xfrm>
            <a:off x="457200" y="694944"/>
            <a:ext cx="8229600" cy="310896"/>
          </a:xfrm>
        </p:spPr>
        <p:txBody>
          <a:bodyPr/>
          <a:lstStyle/>
          <a:p>
            <a:r>
              <a:rPr sz="1400"/>
              <a:t>Who did what, and what we built on</a:t>
            </a:r>
          </a:p>
        </p:txBody>
      </p:sp>
      <p:sp>
        <p:nvSpPr>
          <p:cNvPr id="4" name="Rounded 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1133856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" y="1271016"/>
            <a:ext cx="384048" cy="384048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50" y="1355506"/>
            <a:ext cx="215066" cy="215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0704" y="1243584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>
                <a:solidFill>
                  <a:srgbClr val="003865"/>
                </a:solidFill>
                <a:latin typeface="Arial"/>
              </a:rPr>
              <a:t>Sijia Zhong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1463040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00599B"/>
                </a:solidFill>
                <a:latin typeface="Arial"/>
              </a:rPr>
              <a:t>Baseline + memory (Q1)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737360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1F2933"/>
                </a:solidFill>
                <a:latin typeface="Arial"/>
              </a:rPr>
              <a:t>Benchmark harness, memory model, capacity</a:t>
            </a:r>
          </a:p>
        </p:txBody>
      </p:sp>
      <p:sp>
        <p:nvSpPr>
          <p:cNvPr id="10" name="Rounded 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1133856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83279" y="1271016"/>
            <a:ext cx="384048" cy="384048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7770" y="1355506"/>
            <a:ext cx="215066" cy="2150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49624" y="1243584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>
                <a:solidFill>
                  <a:srgbClr val="003865"/>
                </a:solidFill>
                <a:latin typeface="Arial"/>
              </a:rPr>
              <a:t>Zheng Zheng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9624" y="1463040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00599B"/>
                </a:solidFill>
                <a:latin typeface="Arial"/>
              </a:rPr>
              <a:t>Controlled sweeps (Q2)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737360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1F2933"/>
                </a:solidFill>
                <a:latin typeface="Arial"/>
              </a:rPr>
              <a:t>Precision × batch × length grids, kernels, profiling</a:t>
            </a:r>
          </a:p>
        </p:txBody>
      </p:sp>
      <p:sp>
        <p:nvSpPr>
          <p:cNvPr id="16" name="Rounded 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1133856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1271016"/>
            <a:ext cx="384048" cy="384048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6690" y="1355506"/>
            <a:ext cx="215066" cy="21506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38544" y="1243584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>
                <a:solidFill>
                  <a:srgbClr val="003865"/>
                </a:solidFill>
                <a:latin typeface="Arial"/>
              </a:rPr>
              <a:t>Haofei Sun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1463040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00599B"/>
                </a:solidFill>
                <a:latin typeface="Arial"/>
              </a:rPr>
              <a:t>Real workload + quality (Q3, Q4)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1737360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1F2933"/>
                </a:solidFill>
                <a:latin typeface="Arial"/>
              </a:rPr>
              <a:t>ShareGPT serving, WikiText-2, GSM8K</a:t>
            </a:r>
          </a:p>
        </p:txBody>
      </p:sp>
      <p:sp>
        <p:nvSpPr>
          <p:cNvPr id="22" name="Oval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2267712"/>
            <a:ext cx="292608" cy="292608"/>
          </a:xfrm>
          <a:prstGeom prst="ellipse">
            <a:avLst/>
          </a:prstGeom>
          <a:solidFill>
            <a:srgbClr val="006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573" y="2332085"/>
            <a:ext cx="163860" cy="1638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41247" y="2267712"/>
            <a:ext cx="7626096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003865"/>
                </a:solidFill>
                <a:latin typeface="Arial"/>
              </a:rPr>
              <a:t>References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60604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2933"/>
                </a:solidFill>
                <a:latin typeface="Arial"/>
              </a:rPr>
              <a:t>Dettmers et al., LLM.int8(), NeurIPS 2022  ·  Dettmers et al., QLoRA (NF4), NeurIPS 2023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2933"/>
                </a:solidFill>
                <a:latin typeface="Arial"/>
              </a:rPr>
              <a:t>Frantar et al., GPTQ, ICLR 2023  ·  Lin et al., AWQ, MLSys 2024  ·  Xiao et al., SmoothQuant, ICML 2023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2933"/>
                </a:solidFill>
                <a:latin typeface="Arial"/>
              </a:rPr>
              <a:t>Frantar et al., MARLIN mixed-precision kernels, PPoPP 2025  ·  Kwon et al., vLLM / PagedAttention, SOSP 2023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2933"/>
                </a:solidFill>
                <a:latin typeface="Arial"/>
              </a:rPr>
              <a:t>Micikevicius et al., FP8 Formats for Deep Learning, 2022  ·  Williams et al., Roofline, CACM 2009</a:t>
            </a:r>
          </a:p>
          <a:p>
            <a:pPr algn="l"/>
            <a:r>
              <a:rPr sz="850" b="0" i="0">
                <a:solidFill>
                  <a:srgbClr val="1F2933"/>
                </a:solidFill>
                <a:latin typeface="Arial"/>
              </a:rPr>
              <a:t>Qwen Team, Qwen2.5 Technical Report, 2024  ·  Merity et al., WikiText (ICLR 2017)  ·  Cobbe et al., GSM8K, 2021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3434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 i="0">
                <a:solidFill>
                  <a:srgbClr val="003865"/>
                </a:solidFill>
                <a:latin typeface="Arial"/>
              </a:rPr>
              <a:t>Code, data and report: </a:t>
            </a:r>
            <a:r>
              <a:rPr sz="800" b="0" i="0">
                <a:solidFill>
                  <a:srgbClr val="5B6770"/>
                </a:solidFill>
                <a:latin typeface="Arial"/>
              </a:rPr>
              <a:t>github.com/zz9tf/6359-SYS-ARCHITECT-course-work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TA Accessibl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essible-PPT.pptx" id="{DC14534C-1046-F040-970C-D4B656BEDF73}" vid="{22719C90-FD2E-C343-B61D-D3EE9148FC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E8C2F9B7856C4FB1B45376C9CA1279" ma:contentTypeVersion="12" ma:contentTypeDescription="Create a new document." ma:contentTypeScope="" ma:versionID="47b510a268ab94799d39988294a018bf">
  <xsd:schema xmlns:xsd="http://www.w3.org/2001/XMLSchema" xmlns:xs="http://www.w3.org/2001/XMLSchema" xmlns:p="http://schemas.microsoft.com/office/2006/metadata/properties" xmlns:ns2="56169281-d10e-4687-8d86-e0ae9795bb4c" xmlns:ns3="d98033a5-711e-4d41-9a92-34dc22feb152" targetNamespace="http://schemas.microsoft.com/office/2006/metadata/properties" ma:root="true" ma:fieldsID="430f78a0ddeb4ad93cb2cb32c7d65c5c" ns2:_="" ns3:_="">
    <xsd:import namespace="56169281-d10e-4687-8d86-e0ae9795bb4c"/>
    <xsd:import namespace="d98033a5-711e-4d41-9a92-34dc22feb1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169281-d10e-4687-8d86-e0ae9795bb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8033a5-711e-4d41-9a92-34dc22feb15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99CAED-701D-44BF-B45E-0631AD0D07E6}">
  <ds:schemaRefs>
    <ds:schemaRef ds:uri="56169281-d10e-4687-8d86-e0ae9795bb4c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www.w3.org/XML/1998/namespace"/>
    <ds:schemaRef ds:uri="http://purl.org/dc/dcmitype/"/>
    <ds:schemaRef ds:uri="http://schemas.openxmlformats.org/package/2006/metadata/core-properties"/>
    <ds:schemaRef ds:uri="d98033a5-711e-4d41-9a92-34dc22feb152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6987676A-099B-4B53-B66D-C60F83A714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F4F739-B76C-4907-A1E7-133652B3E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169281-d10e-4687-8d86-e0ae9795bb4c"/>
    <ds:schemaRef ds:uri="d98033a5-711e-4d41-9a92-34dc22feb1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UTA Accessible Template</Template>
  <TotalTime>876</TotalTime>
  <Words>1625</Words>
  <Application>Microsoft Macintosh PowerPoint</Application>
  <PresentationFormat>On-screen Show (16:9)</PresentationFormat>
  <Paragraphs>258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Helvetica</vt:lpstr>
      <vt:lpstr>Wingdings</vt:lpstr>
      <vt:lpstr>UTA Accessible Template</vt:lpstr>
      <vt:lpstr>UTA Logo on blue background</vt:lpstr>
      <vt:lpstr>Get Started</vt:lpstr>
      <vt:lpstr>Get Started</vt:lpstr>
      <vt:lpstr>Tips and Tricks</vt:lpstr>
      <vt:lpstr>Working with Text</vt:lpstr>
      <vt:lpstr>Working with Text</vt:lpstr>
      <vt:lpstr>Working with Visual Elements</vt:lpstr>
      <vt:lpstr>Working with Colors</vt:lpstr>
      <vt:lpstr>Accessible Content</vt:lpstr>
      <vt:lpstr>Option 1:  Accessible Slide Deck</vt:lpstr>
      <vt:lpstr>Option 1:  Accessible Slide Deck</vt:lpstr>
      <vt:lpstr>Option 1:  Alt-Tagging Visuals</vt:lpstr>
      <vt:lpstr>Option 1:  Captioning Videos</vt:lpstr>
      <vt:lpstr>Option 1:  Choosing Colors</vt:lpstr>
      <vt:lpstr>Option 1:  Choosing Colors</vt:lpstr>
      <vt:lpstr>Option 1:  Copying Content</vt:lpstr>
      <vt:lpstr>Option 1:  Copying Content</vt:lpstr>
      <vt:lpstr>Option 2:  Provide a Document</vt:lpstr>
      <vt:lpstr>Option 2:  Provide a Document</vt:lpstr>
      <vt:lpstr>Option 2:  Copying Content</vt:lpstr>
      <vt:lpstr>Option 2:  Copying Content</vt:lpstr>
      <vt:lpstr>More Information on Accessibility</vt:lpstr>
      <vt:lpstr>More Information on Accessibility</vt:lpstr>
      <vt:lpstr>Example Title Goes Here</vt:lpstr>
      <vt:lpstr>Example Title Goes Here</vt:lpstr>
      <vt:lpstr>Demo Only</vt:lpstr>
      <vt:lpstr>Demo Title</vt:lpstr>
      <vt:lpstr>Regular Content Slide</vt:lpstr>
      <vt:lpstr>Demo Two Content</vt:lpstr>
      <vt:lpstr>Demo Two Content</vt:lpstr>
      <vt:lpstr>Demo Demo Demo</vt:lpstr>
      <vt:lpstr>Large Demo Table</vt:lpstr>
      <vt:lpstr>Photo of Oak Trees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Smaller Is Not Always Faster: LLM Quantization on an RTX 5090</dc:title>
  <dc:creator>Sijia Zhong, Zheng Zheng, Haofei Sun</dc:creator>
  <cp:lastModifiedBy>Sijia Zhong, Zheng Zheng, Haofei Sun</cp:lastModifiedBy>
  <cp:revision>82</cp:revision>
  <dcterms:created xsi:type="dcterms:W3CDTF">2021-08-31T19:16:02Z</dcterms:created>
  <dcterms:modified xsi:type="dcterms:W3CDTF">2022-11-08T15:22:52Z</dcterms:modified>
  <dc:subject>CSE 6359 final project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0x0101006AE8C2F9B7856C4FB1B45376C9CA1279</vt:lpwstr>
  </property>
</Properties>
</file>