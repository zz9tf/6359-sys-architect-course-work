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0240"/>
    <p:restoredTop sz="96327"/>
  </p:normalViewPr>
  <p:slideViewPr>
    <p:cSldViewPr snapToGrid="0" snapToObjects="1">
      <p:cViewPr varScale="1">
        <p:scale>
          <a:sx n="155" d="100"/>
          <a:sy n="155" d="100"/>
        </p:scale>
        <p:origin x="200" y="336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studied what quantization really buys you when serving an LLM: memory, speed and quality, measured end to end on one RTX 5090 with two inference stacks.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Hardware, the eight configurations, the workloads and how we time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Weights: NF4 saves 2.60x instead of 4x, INT8 1.75x instead of 2x, because the embedding and LM head stay in 16-bit and NF4 stores a scale per 64 weights. At run time the KV cache and activations are not quantized, so the end-to-end saving shrinks toward 1x as batch and context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prefill is compute-bound, so only formats that quantize activations (FP8) cut TTFT. Middle: decode at small batch is memory-bound; vLLM's fused kernels turn fewer bytes into speed, bitsandbytes does not. Right: at high batch only FP8 still raises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Blue cells: quantized is faster; red: slower. Weight-only 4-bit wins big at small batches and short prompts and fades out with batch size; FP8 wins everywhere; LLM.int8 never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Weight-only 4-bit cuts the bytes 4x, so at small M it climbs the bandwidth roof 4x faster. It also reaches the compute roof at a 4x smaller M; from there the math still runs in BF16 and dequantization is pure overhead. FP8 W8A8 raises the compute roof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LLM.int8() splits every matmul into casts, outlier extraction, INT8 quantization and two GEMMs. The GPU work is small; the Python and kernel-launch overhead dominates the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300 requests, same output lengths for every configuration. Continuous batching and fused kernels matter more than the number format; among vLLM formats FP8 scales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rules: plan memory with the real ratio; for interactive serving use 4-bit weights with a fused kernel; for throughput use FP8 W8A8; treat bitsandbytes as a memory tool, not a speed-up; 8-bit formats with good kernels preserve quality while 4-bit costs one to three MMLU points; and at a fixed memory budget a larger 4-bit model beats a smaller 16-bit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work as planned in the proposal; everyone shared analysis and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733" y="1481328"/>
            <a:ext cx="8229600" cy="731520"/>
          </a:xfrm>
        </p:spPr>
        <p:txBody>
          <a:bodyPr/>
          <a:lstStyle/>
          <a:p>
            <a:r>
              <a:rPr sz="4000"/>
              <a:t>Smaller Is Not Always Faster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611733" y="2157984"/>
            <a:ext cx="8229600" cy="429768"/>
          </a:xfrm>
        </p:spPr>
        <p:txBody>
          <a:bodyPr/>
          <a:lstStyle/>
          <a:p>
            <a:r>
              <a:t>LLM Quantization on an RTX 5090: Memory vs. Speed vs. Quality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>
          <a:xfrm>
            <a:off x="611733" y="2741371"/>
            <a:ext cx="7315200" cy="301752"/>
          </a:xfrm>
        </p:spPr>
        <p:txBody>
          <a:bodyPr/>
          <a:lstStyle/>
          <a:p>
            <a:r>
              <a:t>Sijia Zhong  ·  Zheng Zheng  ·  Haofei Sun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>
          <a:xfrm>
            <a:off x="611733" y="3044952"/>
            <a:ext cx="7315200" cy="292608"/>
          </a:xfrm>
        </p:spPr>
        <p:txBody>
          <a:bodyPr/>
          <a:lstStyle/>
          <a:p>
            <a:r>
              <a:t>Final Project  · 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CSE 6359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 ·  Advanced Topics in Systems &amp;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What We Measured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2 backends × 8 configurations × 3 model sizes — every number measured on one GPU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3026663"/>
          </a:xfrm>
          <a:prstGeom prst="roundRect">
            <a:avLst>
              <a:gd name="adj" fmla="val 2758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521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" y="1280525"/>
            <a:ext cx="163860" cy="163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16152"/>
            <a:ext cx="20482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591056"/>
            <a:ext cx="2377440" cy="2468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NVIDIA RTX 5090</a:t>
            </a:r>
            <a:r>
              <a:rPr sz="950" b="0" i="0">
                <a:solidFill>
                  <a:srgbClr val="1F2933"/>
                </a:solidFill>
                <a:latin typeface="Arial"/>
              </a:rPr>
              <a:t> (Blackwell, sm_120)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Arial"/>
              </a:rPr>
              <a:t>32 GB GDDR7 · 170 SMs · 575 W</a:t>
            </a:r>
          </a:p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Measured: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1.52 TB/s DRAM, 218 TFLOP/s BF16, 645 TFLOP/s FP8</a:t>
            </a:r>
          </a:p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Software: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PyTorch 2.13, Transformers 5.19, bitsandbytes 0.50, vLLM 0.32</a:t>
            </a:r>
          </a:p>
          <a:p>
            <a:pPr algn="l"/>
            <a:r>
              <a:rPr sz="950" b="1" i="0">
                <a:solidFill>
                  <a:srgbClr val="003865"/>
                </a:solidFill>
                <a:latin typeface="Arial"/>
              </a:rPr>
              <a:t>Models: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Qwen2.5-3B / 7B / 14B-Instruct</a:t>
            </a:r>
          </a:p>
        </p:txBody>
      </p:sp>
      <p:sp>
        <p:nvSpPr>
          <p:cNvPr id="9" name="Rounded 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09" y="1280525"/>
            <a:ext cx="163860" cy="16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58184" y="1216152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Eight configurations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591056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5B6770"/>
                </a:solidFill>
                <a:latin typeface="Arial"/>
              </a:rPr>
              <a:t>Hugging Face (eager) + bitsandbytes, quantized at 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810512"/>
            <a:ext cx="515721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1888236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1810512"/>
            <a:ext cx="332841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81297" y="1810512"/>
            <a:ext cx="123992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40733" y="1888236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4177" y="1810512"/>
            <a:ext cx="105704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INT8  LLM.int8()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4376" y="1810512"/>
            <a:ext cx="877824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53812" y="1888236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7256" y="1810512"/>
            <a:ext cx="694944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NF4  4-bit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2157984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5B6770"/>
                </a:solidFill>
                <a:latin typeface="Arial"/>
              </a:rPr>
              <a:t>vLLM (CUDA graphs) + fused kernels, official checkpoints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92424" y="2377439"/>
            <a:ext cx="515721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2455164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4" y="2377439"/>
            <a:ext cx="332841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81297" y="2377439"/>
            <a:ext cx="817473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40733" y="2455164"/>
            <a:ext cx="82296" cy="82296"/>
          </a:xfrm>
          <a:prstGeom prst="ellipse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64177" y="2377439"/>
            <a:ext cx="634593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FP8  W8A8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1923" y="2377439"/>
            <a:ext cx="123992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31359" y="2455164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4803" y="2377439"/>
            <a:ext cx="105704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INT8  GPTQ W8A16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5001" y="2377439"/>
            <a:ext cx="1602028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44437" y="2455164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7881" y="2377439"/>
            <a:ext cx="1419148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INT4  AWQ / GPTQ W4A16</a:t>
            </a:r>
          </a:p>
        </p:txBody>
      </p:sp>
      <p:sp>
        <p:nvSpPr>
          <p:cNvPr id="36" name="Rounded 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2935224"/>
            <a:ext cx="5440680" cy="1225295"/>
          </a:xfrm>
          <a:prstGeom prst="roundRect">
            <a:avLst>
              <a:gd name="adj" fmla="val 597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3017520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509" y="3081893"/>
            <a:ext cx="163860" cy="1638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758184" y="3017520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Workloads and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3374136"/>
            <a:ext cx="5166360" cy="7680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Controlled sweep: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batch 1–256 × prompt 128–2048 tokens, exactly 128 output tokens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Real workload: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300 ShareGPT requests (fixed seed), 1–64 concurrent clients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Quality: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WikiText-2 perplexity, GSM8K (all 1,319 questions)</a:t>
            </a:r>
          </a:p>
          <a:p>
            <a:pPr algn="l"/>
            <a:r>
              <a:rPr sz="900" b="1" i="0">
                <a:solidFill>
                  <a:srgbClr val="003865"/>
                </a:solidFill>
                <a:latin typeface="Arial"/>
              </a:rPr>
              <a:t>Metrics: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peak memory, TTFT, TPOT, tokens/s, energy (J/token); 1 warm-up + 3 repeats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Q1 — Memory: Smaller, but Not 4×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Only the linear layers shrink; embeddings, LM head, KV cache and activations do not</a:t>
            </a:r>
          </a:p>
        </p:txBody>
      </p:sp>
      <p:pic>
        <p:nvPicPr>
          <p:cNvPr id="4" name="Picture 3" descr="Peak memory breakdown and memory saving versus tokens in f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43070"/>
            <a:ext cx="5715000" cy="2208234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1133856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37376" y="1207008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2.60×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7376" y="1591056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weight saving on Qwen2.5-7B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nominal 4× — LM head + embeddings stay 16-bit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2173224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2246376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1.49×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630424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end-to-end saving at B=32, L=2048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KV cache and activations are not quantized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3212591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3285743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1.90×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3669791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more KV-cache tokens in vLLM with AWQ-INT4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freed memory = more concurrent requests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Q2 — Speed Depends on the Kernel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at batch 1: low-bit decode ranges from 2.4× faster to 3.4× slower — the kernel decides</a:t>
            </a:r>
          </a:p>
        </p:txBody>
      </p:sp>
      <p:pic>
        <p:nvPicPr>
          <p:cNvPr id="4" name="Picture 3" descr="TTFT, decode latency and throughput of eight configurations for Qwen2.5-7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613" y="1133856"/>
            <a:ext cx="6404772" cy="2048255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2.44×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decode on vLLM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Marlin kernel: fewer bytes = less time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3.4× slower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LLM.int8() decode on HF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outliers + kernel-launch overhead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1.73×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throughput at B=256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AWQ-INT4 there: no faster than BF16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Q3 — When Does Lower Precision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End-to-end speedup over BF16 across batch size × prompt length (Qwen2.5-7B)</a:t>
            </a:r>
          </a:p>
        </p:txBody>
      </p:sp>
      <p:pic>
        <p:nvPicPr>
          <p:cNvPr id="4" name="Picture 3" descr="Heatmaps of end-to-end speedup versus BF16 over batch size and prompt leng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3856"/>
            <a:ext cx="5450991" cy="3026663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1133856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73367" y="1207008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B ≈ 175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3367" y="1591056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stops winning (prompt 512)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decode turns compute-bound; dequant no longer hidden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2173224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3367" y="2246376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1.59–1.80×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3367" y="2630424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faster in every cell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halves bytes and doubles tensor-core rate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3212591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3367" y="3285743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0.27–0.71×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367" y="3669791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bnb LLM.int8(): slower in every cell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never pays off on this GPU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4-bit Stops Winning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decoder layer's GEMMs vs. tokens in the batch, and the same kernels on the measured roofline</a:t>
            </a:r>
          </a:p>
        </p:txBody>
      </p:sp>
      <p:pic>
        <p:nvPicPr>
          <p:cNvPr id="4" name="Picture 3" descr="Linear-layer kernel speedup versus batch size and roofline pl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1946" y="1133856"/>
            <a:ext cx="5460106" cy="2048256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Marlin W4A16 vs cuBLAS at M = 1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memory-bound: 4x fewer bytes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M ≈ 333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W4A16 advantage shrinks below 5%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compute-bound: dequant no longer hidden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at M = 8192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8-bit tensor cores: 2x the BF16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bitsandbytes Is Slow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HF decode step of Qwen2.5-7B: GPU kernel time vs. time the GPU waits for the host</a:t>
            </a:r>
          </a:p>
        </p:txBody>
      </p:sp>
      <p:pic>
        <p:nvPicPr>
          <p:cNvPr id="4" name="Picture 3" descr="Decode step time breakdown by kernel categ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97618"/>
            <a:ext cx="5577840" cy="2499138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133856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0216" y="1207008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97% → 28%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216" y="1591056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GPU busy time per step: BF16 → INT8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the rest is host overhead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173224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224637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3.7×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2630424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more kernel launches per step with LLM.int8()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casts, outliers, quantize, 2 GEMMs per layer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3212591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3285743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1.13×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216" y="3669791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end-to-end vs BF16 (7B, 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its GEMV kernel alone: 2.4×; GPU busy 49%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Real Workload: 300 ShareGPT Requests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served by vLLM (1–64 concurrent clients) vs. HF static batching (B = 16)</a:t>
            </a:r>
          </a:p>
        </p:txBody>
      </p:sp>
      <p:pic>
        <p:nvPicPr>
          <p:cNvPr id="4" name="Picture 3" descr="ShareGPT serving throughput, TPOT and TTFT versus concurrenc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11" y="1133856"/>
            <a:ext cx="6147577" cy="2048256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2.36×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lower median TPOT with AWQ-INT4 (1 client)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4.1 vs 9.6 ms per token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5,388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tokens/s with FP8 at 64 clients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BF16: 3,537 · AWQ: 5,180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5.3×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vLLM BF16 vs HF BF16 throughput at 16 in flight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the serving stack outweighs the bit-width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Q4 — Quality: What Do We Lose?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GSM8K (1,319 q.) · MMLU (14,042 q.) · WikiText-2 perplexity, with paired McNemar tests</a:t>
            </a:r>
          </a:p>
        </p:txBody>
      </p:sp>
      <p:pic>
        <p:nvPicPr>
          <p:cNvPr id="4" name="Picture 3" descr="GSM8K, MMLU and perplexity versus weight mem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8229600" cy="2035639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≤ 0.9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GPTQ-INT8 / FP8 vs BF16, GSM8K + MMLU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all sizes; only LLM.int8() on 3B loses (−1.1 MMLU pp)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−2.8 to −0.6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MMLU change with 4-bit formats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3B −2.8…−2.2 · 7B −1.6…−0.6 · 14B −1.9…−0.6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+3.1 / +3.7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14B AWQ-INT4 vs 7B BF16 (GSM8K / MMLU)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0.66× the weight memory, McNemar p &lt; 0.001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Takeaways: When Does Quantization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Bit-width alone predicts little — the kernel and the regime decide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" y="1334292"/>
            <a:ext cx="184343" cy="1843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Plan memory with the real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4-bit weight saving on Qwen2.5-7B, not 4×; KV cache and activations stay 16-bit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412" y="1334292"/>
            <a:ext cx="184343" cy="18434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7328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Few users: 4-bit + fused kernel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2.4×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faster decode with AWQ-INT4 + Marlin at batch size 1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476" y="1334292"/>
            <a:ext cx="184343" cy="184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65392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High throughput: FP8 W8A8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1.7×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5744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the BF16 throughput at batch 256, where 4-bit weight-only gains have vanished</a:t>
            </a:r>
          </a:p>
        </p:txBody>
      </p:sp>
      <p:sp>
        <p:nvSpPr>
          <p:cNvPr id="22" name="Rounded 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" y="2879628"/>
            <a:ext cx="184343" cy="18434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9264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bitsandbytes: memory, not speed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3.4×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slower decode with LLM.int8() at batch size 1; NF4 helps only tiny batches</a:t>
            </a:r>
          </a:p>
        </p:txBody>
      </p:sp>
      <p:sp>
        <p:nvSpPr>
          <p:cNvPr id="28" name="Rounded 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412" y="2879628"/>
            <a:ext cx="184343" cy="18434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767328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Quality: 8-bit free, 4-bit not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−2.8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worst MMLU pp with 4-bit (3B); GPTQ-INT8 / FP8 within 0.9 pp everywhere</a:t>
            </a:r>
          </a:p>
        </p:txBody>
      </p:sp>
      <p:sp>
        <p:nvSpPr>
          <p:cNvPr id="34" name="Rounded Rectangle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5476" y="2879628"/>
            <a:ext cx="184343" cy="1843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65392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Spend memory on parameters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75.1%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MMLU of 14B AWQ-INT4 vs 71.4% for 7B BF16, with less weight memory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Team and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Who did what, and what we built on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436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0" y="1355506"/>
            <a:ext cx="215066" cy="2150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Sijia Zhong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Baseline + memory (Q1)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Benchmark harness, memory model, capacity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79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770" y="1355506"/>
            <a:ext cx="215066" cy="2150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962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Zheng Zheng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Controlled sweeps (Q2)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Precision × batch × length grids, kernels, profiling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690" y="1355506"/>
            <a:ext cx="215066" cy="2150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3854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Haofei Sun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Real workload + quality (Q3, Q4)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ShareGPT serving, WikiText-2, GSM8K</a:t>
            </a:r>
          </a:p>
        </p:txBody>
      </p:sp>
      <p:sp>
        <p:nvSpPr>
          <p:cNvPr id="22" name="Oval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26771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573" y="2332085"/>
            <a:ext cx="163860" cy="1638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7" y="2267712"/>
            <a:ext cx="762609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60604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Dettmers et al., LLM.int8(), NeurIPS 2022  ·  Dettmers et al., QLoRA (NF4), NeurIPS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Frantar et al., GPTQ, ICLR 2023  ·  Lin et al., AWQ, MLSys 2024  ·  Xiao et al., SmoothQuant, ICML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Frantar et al., MARLIN mixed-precision kernels, PPoPP 2025  ·  Kwon et al., vLLM / PagedAttention, SOSP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Micikevicius et al., FP8 Formats for Deep Learning, 2022  ·  Williams et al., Roofline, CACM 2009</a:t>
            </a:r>
          </a:p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Qwen Team, Qwen2.5 Technical Report, 2024  ·  Merity et al., WikiText (ICLR 2017)  ·  Cobbe et al., GSM8K, 2021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34340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1" i="0">
                <a:solidFill>
                  <a:srgbClr val="003865"/>
                </a:solidFill>
                <a:latin typeface="Arial"/>
              </a:rPr>
              <a:t>Code, data and report: </a:t>
            </a:r>
            <a:r>
              <a:rPr sz="800" b="0" i="0">
                <a:solidFill>
                  <a:srgbClr val="5B6770"/>
                </a:solidFill>
                <a:latin typeface="Arial"/>
              </a:rPr>
              <a:t>github.com/zz9tf/6359-SYS-ARCHITECT-course-work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876</TotalTime>
  <Words>1625</Words>
  <Application>Microsoft Macintosh PowerPoint</Application>
  <PresentationFormat>On-screen Show (16:9)</PresentationFormat>
  <Paragraphs>258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Helvetica</vt:lpstr>
      <vt:lpstr>Wingdings</vt:lpstr>
      <vt:lpstr>UTA Accessible Template</vt:lpstr>
      <vt:lpstr>UTA Logo on blue background</vt:lpstr>
      <vt:lpstr>Get Started</vt:lpstr>
      <vt:lpstr>Get Started</vt:lpstr>
      <vt:lpstr>Tips and Tricks</vt:lpstr>
      <vt:lpstr>Working with Text</vt:lpstr>
      <vt:lpstr>Working with Text</vt:lpstr>
      <vt:lpstr>Working with Visual Elements</vt:lpstr>
      <vt:lpstr>Working with Colors</vt:lpstr>
      <vt:lpstr>Accessible Content</vt:lpstr>
      <vt:lpstr>Option 1:  Accessible Slide Deck</vt:lpstr>
      <vt:lpstr>Option 1:  Accessible Slide Deck</vt:lpstr>
      <vt:lpstr>Option 1:  Alt-Tagging Visuals</vt:lpstr>
      <vt:lpstr>Option 1:  Captioning Videos</vt:lpstr>
      <vt:lpstr>Option 1:  Choosing Colors</vt:lpstr>
      <vt:lpstr>Option 1:  Choosing Colors</vt:lpstr>
      <vt:lpstr>Option 1:  Copying Content</vt:lpstr>
      <vt:lpstr>Option 1:  Copying Content</vt:lpstr>
      <vt:lpstr>Option 2:  Provide a Document</vt:lpstr>
      <vt:lpstr>Option 2:  Provide a Document</vt:lpstr>
      <vt:lpstr>Option 2:  Copying Content</vt:lpstr>
      <vt:lpstr>Option 2:  Copying Content</vt:lpstr>
      <vt:lpstr>More Information on Accessibility</vt:lpstr>
      <vt:lpstr>More Information on Accessibility</vt:lpstr>
      <vt:lpstr>Example Title Goes Here</vt:lpstr>
      <vt:lpstr>Example Title Goes Here</vt:lpstr>
      <vt:lpstr>Demo Only</vt:lpstr>
      <vt:lpstr>Demo Title</vt:lpstr>
      <vt:lpstr>Regular Content Slide</vt:lpstr>
      <vt:lpstr>Demo Two Content</vt:lpstr>
      <vt:lpstr>Demo Two Content</vt:lpstr>
      <vt:lpstr>Demo Demo Demo</vt:lpstr>
      <vt:lpstr>Large Demo Table</vt:lpstr>
      <vt:lpstr>Photo of Oak Trees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Smaller Is Not Always Faster: LLM Quantization on an RTX 5090</dc:title>
  <dc:creator>Sijia Zhong, Zheng Zheng, Haofei Sun</dc:creator>
  <cp:lastModifiedBy>Sijia Zhong, Zheng Zheng, Haofei Sun</cp:lastModifiedBy>
  <cp:revision>82</cp:revision>
  <dcterms:created xsi:type="dcterms:W3CDTF">2021-08-31T19:16:02Z</dcterms:created>
  <dcterms:modified xsi:type="dcterms:W3CDTF">2022-11-08T15:22:52Z</dcterms:modified>
  <dc:subject>CSE 6359 final project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