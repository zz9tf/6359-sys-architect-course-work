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64630" autoAdjust="0"/>
  </p:normalViewPr>
  <p:slideViewPr>
    <p:cSldViewPr snapToGrid="0" snapToObjects="1">
      <p:cViewPr varScale="1">
        <p:scale>
          <a:sx n="106" d="100"/>
          <a:sy n="106" d="100"/>
        </p:scale>
        <p:origin x="2490" y="108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(B)</c:v>
                </c:pt>
              </c:strCache>
            </c:strRef>
          </c:tx>
          <c:spPr>
            <a:solidFill>
              <a:srgbClr val="0064B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7BAFD4"/>
              </a:solidFill>
            </c:spPr>
            <c:extLst>
              <c:ext xmlns:c16="http://schemas.microsoft.com/office/drawing/2014/chart" uri="{C3380CC4-5D6E-409C-BE32-E72D297353CC}">
                <c16:uniqueId val="{00000001-3FAE-4C7E-998D-0D45571942D9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3FAE-4C7E-998D-0D45571942D9}"/>
              </c:ext>
            </c:extLst>
          </c:dPt>
          <c:dPt>
            <c:idx val="2"/>
            <c:invertIfNegative val="1"/>
            <c:bubble3D val="0"/>
            <c:spPr>
              <a:solidFill>
                <a:srgbClr val="003865"/>
              </a:solidFill>
            </c:spPr>
            <c:extLst>
              <c:ext xmlns:c16="http://schemas.microsoft.com/office/drawing/2014/chart" uri="{C3380CC4-5D6E-409C-BE32-E72D297353CC}">
                <c16:uniqueId val="{00000005-3FAE-4C7E-998D-0D45571942D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1.5B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FAE-4C7E-998D-0D45571942D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175B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FAE-4C7E-998D-0D45571942D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671B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FAE-4C7E-998D-0D45571942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GPT-2 (2019)</c:v>
                </c:pt>
                <c:pt idx="1">
                  <c:v>GPT-3 (2020)</c:v>
                </c:pt>
                <c:pt idx="2">
                  <c:v>DeepSeek-V3 (2024)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175</c:v>
                </c:pt>
                <c:pt idx="2">
                  <c:v>671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FAE-4C7E-998D-0D4557194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0D3D4"/>
            </a:solidFill>
          </a:ln>
        </c:spPr>
        <c:txPr>
          <a:bodyPr/>
          <a:lstStyle/>
          <a:p>
            <a:pPr>
              <a:defRPr sz="700">
                <a:solidFill>
                  <a:srgbClr val="5B677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4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5B67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7B weights (GB)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2AAAD"/>
              </a:solidFill>
            </c:spPr>
            <c:extLst>
              <c:ext xmlns:c16="http://schemas.microsoft.com/office/drawing/2014/chart" uri="{C3380CC4-5D6E-409C-BE32-E72D297353CC}">
                <c16:uniqueId val="{00000001-88FC-48EF-9EC0-60D99487DFAD}"/>
              </c:ext>
            </c:extLst>
          </c:dPt>
          <c:dPt>
            <c:idx val="1"/>
            <c:invertIfNegative val="1"/>
            <c:bubble3D val="0"/>
            <c:spPr>
              <a:solidFill>
                <a:srgbClr val="003865"/>
              </a:solidFill>
            </c:spPr>
            <c:extLst>
              <c:ext xmlns:c16="http://schemas.microsoft.com/office/drawing/2014/chart" uri="{C3380CC4-5D6E-409C-BE32-E72D297353CC}">
                <c16:uniqueId val="{00000003-88FC-48EF-9EC0-60D99487DFAD}"/>
              </c:ext>
            </c:extLst>
          </c:dPt>
          <c:dPt>
            <c:idx val="2"/>
            <c:invertIfNegative val="1"/>
            <c:bubble3D val="0"/>
            <c:spPr>
              <a:solidFill>
                <a:srgbClr val="0064B1"/>
              </a:solidFill>
            </c:spPr>
            <c:extLst>
              <c:ext xmlns:c16="http://schemas.microsoft.com/office/drawing/2014/chart" uri="{C3380CC4-5D6E-409C-BE32-E72D297353CC}">
                <c16:uniqueId val="{00000005-88FC-48EF-9EC0-60D99487DFAD}"/>
              </c:ext>
            </c:extLst>
          </c:dPt>
          <c:dPt>
            <c:idx val="3"/>
            <c:invertIfNegative val="1"/>
            <c:bubble3D val="0"/>
            <c:spPr>
              <a:solidFill>
                <a:srgbClr val="F58025"/>
              </a:solidFill>
            </c:spPr>
            <c:extLst>
              <c:ext xmlns:c16="http://schemas.microsoft.com/office/drawing/2014/chart" uri="{C3380CC4-5D6E-409C-BE32-E72D297353CC}">
                <c16:uniqueId val="{00000007-88FC-48EF-9EC0-60D99487DFA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28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8FC-48EF-9EC0-60D99487DF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14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8FC-48EF-9EC0-60D99487DF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7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8FC-48EF-9EC0-60D99487DF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003865"/>
                        </a:solidFill>
                        <a:latin typeface="Arial"/>
                      </a:rPr>
                      <a:t>3.5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8FC-48EF-9EC0-60D99487DF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FP32 · 4 B</c:v>
                </c:pt>
                <c:pt idx="1">
                  <c:v>FP16/BF16 · 2 B</c:v>
                </c:pt>
                <c:pt idx="2">
                  <c:v>INT8 · 1 B</c:v>
                </c:pt>
                <c:pt idx="3">
                  <c:v>INT4 · 0.5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14</c:v>
                </c:pt>
                <c:pt idx="2">
                  <c:v>7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FC-48EF-9EC0-60D99487D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D0D3D4"/>
            </a:solidFill>
          </a:ln>
        </c:spPr>
        <c:txPr>
          <a:bodyPr/>
          <a:lstStyle/>
          <a:p>
            <a:pPr>
              <a:defRPr sz="750">
                <a:solidFill>
                  <a:srgbClr val="1F29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5B67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chart" Target="../charts/chart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33" y="1481328"/>
            <a:ext cx="8229600" cy="731520"/>
          </a:xfrm>
        </p:spPr>
        <p:txBody>
          <a:bodyPr/>
          <a:lstStyle/>
          <a:p>
            <a:r>
              <a:rPr sz="4000"/>
              <a:t>Smaller Is Not Always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11733" y="2157984"/>
            <a:ext cx="8229600" cy="429768"/>
          </a:xfrm>
        </p:spPr>
        <p:txBody>
          <a:bodyPr/>
          <a:lstStyle/>
          <a:p>
            <a:r>
              <a:t>LLM Quantization: When Does It Actually Pay Off?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11733" y="2741371"/>
            <a:ext cx="7315200" cy="301752"/>
          </a:xfrm>
        </p:spPr>
        <p:txBody>
          <a:bodyPr/>
          <a:lstStyle/>
          <a:p>
            <a:r>
              <a:t>Sijia Zhong  ·  Zheng Zheng  ·  Haofei Sun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11733" y="3044952"/>
            <a:ext cx="7315200" cy="292608"/>
          </a:xfrm>
        </p:spPr>
        <p:txBody>
          <a:bodyPr/>
          <a:lstStyle/>
          <a:p>
            <a:r>
              <a:t>Course Project Proposal  ·  Fall 2026</a:t>
            </a:r>
          </a:p>
        </p:txBody>
      </p:sp>
      <p:sp>
        <p:nvSpPr>
          <p:cNvPr id="6" name="course line"/>
          <p:cNvSpPr txBox="1"/>
          <p:nvPr/>
        </p:nvSpPr>
        <p:spPr>
          <a:xfrm>
            <a:off x="694944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CSE 6359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·  Advanced Topics in Systems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 wrap="squar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Motivation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265176" y="704088"/>
            <a:ext cx="8613648" cy="283464"/>
          </a:xfrm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E5FB3"/>
                </a:solidFill>
                <a:latin typeface="Arial"/>
              </a:rPr>
              <a:t>How much memory does quantization save, and how does that translate into inference performance?</a:t>
            </a:r>
          </a:p>
        </p:txBody>
      </p:sp>
      <p:sp>
        <p:nvSpPr>
          <p:cNvPr id="5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2651760" cy="1920240"/>
          </a:xfrm>
          <a:prstGeom prst="roundRect">
            <a:avLst>
              <a:gd name="adj" fmla="val 380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1225296"/>
            <a:ext cx="310896" cy="31089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13" y="1293693"/>
            <a:ext cx="174101" cy="174101"/>
          </a:xfrm>
          <a:prstGeom prst="rect">
            <a:avLst/>
          </a:prstGeom>
        </p:spPr>
      </p:pic>
      <p:sp>
        <p:nvSpPr>
          <p:cNvPr id="8" name="hdr Core challenge: memo"/>
          <p:cNvSpPr txBox="1"/>
          <p:nvPr/>
        </p:nvSpPr>
        <p:spPr>
          <a:xfrm>
            <a:off x="987552" y="1271016"/>
            <a:ext cx="2029968" cy="22860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93B67"/>
                </a:solidFill>
                <a:latin typeface="Arial"/>
              </a:rPr>
              <a:t>Core challenge: memory</a:t>
            </a:r>
          </a:p>
        </p:txBody>
      </p:sp>
      <p:sp>
        <p:nvSpPr>
          <p:cNvPr id="9" name="growth caption"/>
          <p:cNvSpPr txBox="1"/>
          <p:nvPr/>
        </p:nvSpPr>
        <p:spPr>
          <a:xfrm>
            <a:off x="603504" y="1609344"/>
            <a:ext cx="2377440" cy="18288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26C75"/>
                </a:solidFill>
                <a:latin typeface="Arial"/>
              </a:rPr>
              <a:t>Model parameters keep growing</a:t>
            </a:r>
          </a:p>
        </p:txBody>
      </p:sp>
      <p:sp>
        <p:nvSpPr>
          <p:cNvPr id="10" name="growth factors"/>
          <p:cNvSpPr txBox="1"/>
          <p:nvPr/>
        </p:nvSpPr>
        <p:spPr>
          <a:xfrm>
            <a:off x="749808" y="1810512"/>
            <a:ext cx="1499616" cy="301752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93B67"/>
                </a:solidFill>
                <a:latin typeface="Arial"/>
              </a:rPr>
              <a:t>~117× (2019 → 2020)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93B67"/>
                </a:solidFill>
                <a:latin typeface="Arial"/>
              </a:rPr>
              <a:t>~3.8× (2020 → 2024)</a:t>
            </a:r>
          </a:p>
        </p:txBody>
      </p:sp>
      <p:sp>
        <p:nvSpPr>
          <p:cNvPr id="11" name="challenge footnote"/>
          <p:cNvSpPr txBox="1"/>
          <p:nvPr/>
        </p:nvSpPr>
        <p:spPr>
          <a:xfrm>
            <a:off x="594360" y="2734056"/>
            <a:ext cx="2423160" cy="301752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626C75"/>
                </a:solidFill>
                <a:latin typeface="Arial"/>
              </a:rPr>
              <a:t>FP16 weights consume substantial GPU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626C75"/>
                </a:solidFill>
                <a:latin typeface="Arial"/>
              </a:rPr>
              <a:t>memory: high inference cost limits deployment</a:t>
            </a:r>
          </a:p>
        </p:txBody>
      </p:sp>
      <p:sp>
        <p:nvSpPr>
          <p:cNvPr id="12" name="Rounded 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33856"/>
            <a:ext cx="2651760" cy="1920240"/>
          </a:xfrm>
          <a:prstGeom prst="roundRect">
            <a:avLst>
              <a:gd name="adj" fmla="val 380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Oval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4136" y="1225296"/>
            <a:ext cx="310896" cy="31089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533" y="1293693"/>
            <a:ext cx="174101" cy="174101"/>
          </a:xfrm>
          <a:prstGeom prst="rect">
            <a:avLst/>
          </a:prstGeom>
        </p:spPr>
      </p:pic>
      <p:sp>
        <p:nvSpPr>
          <p:cNvPr id="15" name="hdr Solution: quantizati"/>
          <p:cNvSpPr txBox="1"/>
          <p:nvPr/>
        </p:nvSpPr>
        <p:spPr>
          <a:xfrm>
            <a:off x="3776472" y="1271016"/>
            <a:ext cx="2029968" cy="22860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93B67"/>
                </a:solidFill>
                <a:latin typeface="Arial"/>
              </a:rPr>
              <a:t>Solution: quantization</a:t>
            </a:r>
          </a:p>
        </p:txBody>
      </p:sp>
      <p:sp>
        <p:nvSpPr>
          <p:cNvPr id="16" name="solution caption"/>
          <p:cNvSpPr txBox="1"/>
          <p:nvPr/>
        </p:nvSpPr>
        <p:spPr>
          <a:xfrm>
            <a:off x="3392424" y="1609344"/>
            <a:ext cx="2377440" cy="18288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26C75"/>
                </a:solidFill>
                <a:latin typeface="Arial"/>
              </a:rPr>
              <a:t>High-precision weights → low-bit formats</a:t>
            </a:r>
          </a:p>
        </p:txBody>
      </p:sp>
      <p:sp>
        <p:nvSpPr>
          <p:cNvPr id="17" name="solution footnote"/>
          <p:cNvSpPr txBox="1"/>
          <p:nvPr/>
        </p:nvSpPr>
        <p:spPr>
          <a:xfrm>
            <a:off x="3392424" y="2825496"/>
            <a:ext cx="2386584" cy="173736"/>
          </a:xfrm>
          <a:prstGeom prst="rect">
            <a:avLst/>
          </a:prstGeom>
          <a:noFill/>
        </p:spPr>
        <p:txBody>
          <a:bodyPr wrap="non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6C75"/>
                </a:solidFill>
                <a:latin typeface="Arial"/>
              </a:rPr>
              <a:t>Example: 7B-parameter model, weights only</a:t>
            </a:r>
          </a:p>
        </p:txBody>
      </p:sp>
      <p:sp>
        <p:nvSpPr>
          <p:cNvPr id="18" name="Rounded 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63824"/>
            <a:ext cx="5440680" cy="996695"/>
          </a:xfrm>
          <a:prstGeom prst="roundRect">
            <a:avLst>
              <a:gd name="adj" fmla="val 733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Oval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3255264"/>
            <a:ext cx="310896" cy="31089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20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13" y="3323661"/>
            <a:ext cx="174101" cy="174101"/>
          </a:xfrm>
          <a:prstGeom prst="rect">
            <a:avLst/>
          </a:prstGeom>
        </p:spPr>
      </p:pic>
      <p:sp>
        <p:nvSpPr>
          <p:cNvPr id="21" name="hdr But smaller ≠ faster"/>
          <p:cNvSpPr txBox="1"/>
          <p:nvPr/>
        </p:nvSpPr>
        <p:spPr>
          <a:xfrm>
            <a:off x="987552" y="3319272"/>
            <a:ext cx="4818888" cy="228600"/>
          </a:xfrm>
          <a:prstGeom prst="rect">
            <a:avLst/>
          </a:prstGeom>
          <a:noFill/>
        </p:spPr>
        <p:txBody>
          <a:bodyPr wrap="non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93B67"/>
                </a:solidFill>
                <a:latin typeface="Arial"/>
              </a:rPr>
              <a:t>Why quantization does not determine system performance</a:t>
            </a:r>
          </a:p>
        </p:txBody>
      </p:sp>
      <p:sp>
        <p:nvSpPr>
          <p:cNvPr id="22" name="Oval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3611879"/>
            <a:ext cx="201168" cy="201168"/>
          </a:xfrm>
          <a:prstGeom prst="ellipse">
            <a:avLst/>
          </a:prstGeom>
          <a:solidFill>
            <a:srgbClr val="7B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23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81" y="3650101"/>
            <a:ext cx="124724" cy="124724"/>
          </a:xfrm>
          <a:prstGeom prst="rect">
            <a:avLst/>
          </a:prstGeom>
        </p:spPr>
      </p:pic>
      <p:sp>
        <p:nvSpPr>
          <p:cNvPr id="24" name="catch head 0"/>
          <p:cNvSpPr txBox="1"/>
          <p:nvPr/>
        </p:nvSpPr>
        <p:spPr>
          <a:xfrm>
            <a:off x="850392" y="3657600"/>
            <a:ext cx="1581912" cy="192024"/>
          </a:xfrm>
          <a:prstGeom prst="rect">
            <a:avLst/>
          </a:prstGeom>
          <a:noFill/>
        </p:spPr>
        <p:txBody>
          <a:bodyPr wrap="non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93B67"/>
                </a:solidFill>
                <a:latin typeface="Arial"/>
              </a:rPr>
              <a:t>Memory Transfer</a:t>
            </a:r>
          </a:p>
        </p:txBody>
      </p:sp>
      <p:sp>
        <p:nvSpPr>
          <p:cNvPr id="25" name="catch desc 0"/>
          <p:cNvSpPr txBox="1"/>
          <p:nvPr/>
        </p:nvSpPr>
        <p:spPr>
          <a:xfrm>
            <a:off x="731520" y="3858768"/>
            <a:ext cx="1810512" cy="265176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transfer savings do not translate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to final performance</a:t>
            </a:r>
          </a:p>
        </p:txBody>
      </p:sp>
      <p:sp>
        <p:nvSpPr>
          <p:cNvPr id="26" name="Oval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16480" y="3611879"/>
            <a:ext cx="201168" cy="201168"/>
          </a:xfrm>
          <a:prstGeom prst="ellipse">
            <a:avLst/>
          </a:prstGeom>
          <a:solidFill>
            <a:srgbClr val="7B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27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4701" y="3650101"/>
            <a:ext cx="124724" cy="124724"/>
          </a:xfrm>
          <a:prstGeom prst="rect">
            <a:avLst/>
          </a:prstGeom>
        </p:spPr>
      </p:pic>
      <p:sp>
        <p:nvSpPr>
          <p:cNvPr id="28" name="catch head 1"/>
          <p:cNvSpPr txBox="1"/>
          <p:nvPr/>
        </p:nvSpPr>
        <p:spPr>
          <a:xfrm>
            <a:off x="2572512" y="3657600"/>
            <a:ext cx="1581912" cy="192024"/>
          </a:xfrm>
          <a:prstGeom prst="rect">
            <a:avLst/>
          </a:prstGeom>
          <a:noFill/>
        </p:spPr>
        <p:txBody>
          <a:bodyPr wrap="non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93B67"/>
                </a:solidFill>
                <a:latin typeface="Arial"/>
              </a:rPr>
              <a:t>Hardware Efficiency</a:t>
            </a:r>
          </a:p>
        </p:txBody>
      </p:sp>
      <p:sp>
        <p:nvSpPr>
          <p:cNvPr id="29" name="catch desc 1"/>
          <p:cNvSpPr txBox="1"/>
          <p:nvPr/>
        </p:nvSpPr>
        <p:spPr>
          <a:xfrm>
            <a:off x="2615184" y="3858768"/>
            <a:ext cx="1527048" cy="265176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Different precisions have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different support.</a:t>
            </a:r>
          </a:p>
        </p:txBody>
      </p:sp>
      <p:sp>
        <p:nvSpPr>
          <p:cNvPr id="30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8600" y="3611879"/>
            <a:ext cx="201168" cy="201168"/>
          </a:xfrm>
          <a:prstGeom prst="ellipse">
            <a:avLst/>
          </a:prstGeom>
          <a:solidFill>
            <a:srgbClr val="7B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31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6821" y="3650101"/>
            <a:ext cx="124724" cy="124724"/>
          </a:xfrm>
          <a:prstGeom prst="rect">
            <a:avLst/>
          </a:prstGeom>
        </p:spPr>
      </p:pic>
      <p:sp>
        <p:nvSpPr>
          <p:cNvPr id="32" name="catch head 2"/>
          <p:cNvSpPr txBox="1"/>
          <p:nvPr/>
        </p:nvSpPr>
        <p:spPr>
          <a:xfrm>
            <a:off x="4294632" y="3657600"/>
            <a:ext cx="1581912" cy="192024"/>
          </a:xfrm>
          <a:prstGeom prst="rect">
            <a:avLst/>
          </a:prstGeom>
          <a:noFill/>
        </p:spPr>
        <p:txBody>
          <a:bodyPr wrap="non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93B67"/>
                </a:solidFill>
                <a:latin typeface="Arial"/>
              </a:rPr>
              <a:t>Request Characteristics</a:t>
            </a:r>
          </a:p>
        </p:txBody>
      </p:sp>
      <p:sp>
        <p:nvSpPr>
          <p:cNvPr id="33" name="catch desc 2"/>
          <p:cNvSpPr txBox="1"/>
          <p:nvPr/>
        </p:nvSpPr>
        <p:spPr>
          <a:xfrm>
            <a:off x="4270248" y="3858768"/>
            <a:ext cx="1517904" cy="265176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Batch size and sequence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43C54"/>
                </a:solidFill>
                <a:latin typeface="Arial"/>
              </a:rPr>
              <a:t>length changes</a:t>
            </a:r>
          </a:p>
        </p:txBody>
      </p:sp>
      <p:sp>
        <p:nvSpPr>
          <p:cNvPr id="34" name="Rounded 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133856"/>
            <a:ext cx="2651760" cy="3026663"/>
          </a:xfrm>
          <a:prstGeom prst="roundRect">
            <a:avLst>
              <a:gd name="adj" fmla="val 2758"/>
            </a:avLst>
          </a:prstGeom>
          <a:solidFill>
            <a:srgbClr val="19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Oval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5" y="1225296"/>
            <a:ext cx="310896" cy="31089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36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1453" y="1293693"/>
            <a:ext cx="174101" cy="174101"/>
          </a:xfrm>
          <a:prstGeom prst="rect">
            <a:avLst/>
          </a:prstGeom>
        </p:spPr>
      </p:pic>
      <p:sp>
        <p:nvSpPr>
          <p:cNvPr id="37" name="rq header"/>
          <p:cNvSpPr txBox="1"/>
          <p:nvPr/>
        </p:nvSpPr>
        <p:spPr>
          <a:xfrm>
            <a:off x="6565392" y="1271016"/>
            <a:ext cx="2057400" cy="22860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Research questions</a:t>
            </a:r>
          </a:p>
        </p:txBody>
      </p:sp>
      <p:sp>
        <p:nvSpPr>
          <p:cNvPr id="38" name="Oval 38"/>
          <p:cNvSpPr/>
          <p:nvPr/>
        </p:nvSpPr>
        <p:spPr>
          <a:xfrm>
            <a:off x="6172199" y="1664207"/>
            <a:ext cx="274320" cy="274320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39" name="rq Q1"/>
          <p:cNvSpPr txBox="1"/>
          <p:nvPr/>
        </p:nvSpPr>
        <p:spPr>
          <a:xfrm>
            <a:off x="6547104" y="1645920"/>
            <a:ext cx="2029968" cy="594360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BCD6E8"/>
                </a:solidFill>
                <a:latin typeface="Arial"/>
              </a:rPr>
              <a:t>Memory. </a:t>
            </a:r>
            <a:r>
              <a:rPr sz="890" b="0">
                <a:solidFill>
                  <a:srgbClr val="FFFFFF"/>
                </a:solidFill>
                <a:latin typeface="Arial"/>
              </a:rPr>
              <a:t>How closely does theoretical weight compression translate into actual inference-time GPU memory savings?</a:t>
            </a:r>
          </a:p>
        </p:txBody>
      </p:sp>
      <p:sp>
        <p:nvSpPr>
          <p:cNvPr id="40" name="Oval 40"/>
          <p:cNvSpPr/>
          <p:nvPr/>
        </p:nvSpPr>
        <p:spPr>
          <a:xfrm>
            <a:off x="6172199" y="2350008"/>
            <a:ext cx="274320" cy="274320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41" name="rq Q2"/>
          <p:cNvSpPr txBox="1"/>
          <p:nvPr/>
        </p:nvSpPr>
        <p:spPr>
          <a:xfrm>
            <a:off x="6547104" y="2331720"/>
            <a:ext cx="2029968" cy="393192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BCD6E8"/>
                </a:solidFill>
                <a:latin typeface="Arial"/>
              </a:rPr>
              <a:t>Speed. </a:t>
            </a:r>
            <a:r>
              <a:rPr sz="890" b="0">
                <a:solidFill>
                  <a:srgbClr val="FFFFFF"/>
                </a:solidFill>
                <a:latin typeface="Arial"/>
              </a:rPr>
              <a:t>How does quantization affect TTFT, decode latency, and throughput?</a:t>
            </a:r>
          </a:p>
        </p:txBody>
      </p:sp>
      <p:sp>
        <p:nvSpPr>
          <p:cNvPr id="42" name="Oval 42"/>
          <p:cNvSpPr/>
          <p:nvPr/>
        </p:nvSpPr>
        <p:spPr>
          <a:xfrm>
            <a:off x="6172199" y="2862072"/>
            <a:ext cx="274320" cy="274320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43" name="rq Q3"/>
          <p:cNvSpPr txBox="1"/>
          <p:nvPr/>
        </p:nvSpPr>
        <p:spPr>
          <a:xfrm>
            <a:off x="6547104" y="2843784"/>
            <a:ext cx="2029968" cy="539496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BCD6E8"/>
                </a:solidFill>
                <a:latin typeface="Arial"/>
              </a:rPr>
              <a:t>Workload sensitivity. </a:t>
            </a:r>
            <a:r>
              <a:rPr sz="890" b="0">
                <a:solidFill>
                  <a:srgbClr val="FFFFFF"/>
                </a:solidFill>
                <a:latin typeface="Arial"/>
              </a:rPr>
              <a:t>How does the performance impact of quantization change with batch size and sequence length?</a:t>
            </a:r>
          </a:p>
        </p:txBody>
      </p:sp>
      <p:sp>
        <p:nvSpPr>
          <p:cNvPr id="44" name="Oval 44"/>
          <p:cNvSpPr/>
          <p:nvPr/>
        </p:nvSpPr>
        <p:spPr>
          <a:xfrm>
            <a:off x="6172199" y="3547872"/>
            <a:ext cx="274320" cy="274320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45" name="rq Q4"/>
          <p:cNvSpPr txBox="1"/>
          <p:nvPr/>
        </p:nvSpPr>
        <p:spPr>
          <a:xfrm>
            <a:off x="6547104" y="3529584"/>
            <a:ext cx="2029968" cy="566928"/>
          </a:xfrm>
          <a:prstGeom prst="rect">
            <a:avLst/>
          </a:prstGeom>
          <a:noFill/>
        </p:spPr>
        <p:txBody>
          <a:bodyPr wrap="square" lIns="2743" tIns="2743" r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BCD6E8"/>
                </a:solidFill>
                <a:latin typeface="Arial"/>
              </a:rPr>
              <a:t>System config (optional). </a:t>
            </a:r>
            <a:r>
              <a:rPr sz="890" b="0">
                <a:solidFill>
                  <a:srgbClr val="FFFFFF"/>
                </a:solidFill>
                <a:latin typeface="Arial"/>
              </a:rPr>
              <a:t>How sensitive are these effects to system configurations such as the inference backend or GPU setting?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94944" y="2441448"/>
            <a:ext cx="2249424" cy="8229"/>
          </a:xfrm>
          <a:prstGeom prst="rect">
            <a:avLst/>
          </a:prstGeom>
          <a:solidFill>
            <a:srgbClr val="C9D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" name="Rectangle 47"/>
          <p:cNvSpPr/>
          <p:nvPr/>
        </p:nvSpPr>
        <p:spPr>
          <a:xfrm>
            <a:off x="850392" y="2440180"/>
            <a:ext cx="347472" cy="1267"/>
          </a:xfrm>
          <a:prstGeom prst="rect">
            <a:avLst/>
          </a:prstGeom>
          <a:solidFill>
            <a:srgbClr val="2E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" name="TextBox 48"/>
          <p:cNvSpPr txBox="1"/>
          <p:nvPr/>
        </p:nvSpPr>
        <p:spPr>
          <a:xfrm>
            <a:off x="722376" y="2275588"/>
            <a:ext cx="60350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93B67"/>
                </a:solidFill>
                <a:latin typeface="Arial"/>
              </a:rPr>
              <a:t>1.5B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4360" y="2514600"/>
            <a:ext cx="859536" cy="27432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6C75"/>
                </a:solidFill>
                <a:latin typeface="Arial"/>
              </a:rPr>
              <a:t>GPT-2 (2019)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1655064" y="2293590"/>
            <a:ext cx="347472" cy="147857"/>
          </a:xfrm>
          <a:prstGeom prst="rect">
            <a:avLst/>
          </a:prstGeom>
          <a:solidFill>
            <a:srgbClr val="2E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1" name="TextBox 51"/>
          <p:cNvSpPr txBox="1"/>
          <p:nvPr/>
        </p:nvSpPr>
        <p:spPr>
          <a:xfrm>
            <a:off x="1527048" y="2128998"/>
            <a:ext cx="60350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93B67"/>
                </a:solidFill>
                <a:latin typeface="Arial"/>
              </a:rPr>
              <a:t>175B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99032" y="2514600"/>
            <a:ext cx="859536" cy="27432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6C75"/>
                </a:solidFill>
                <a:latin typeface="Arial"/>
              </a:rPr>
              <a:t>GPT-3 (2020)</a:t>
            </a:r>
          </a:p>
        </p:txBody>
      </p:sp>
      <p:sp>
        <p:nvSpPr>
          <p:cNvPr id="53" name="Rectangle 53"/>
          <p:cNvSpPr/>
          <p:nvPr/>
        </p:nvSpPr>
        <p:spPr>
          <a:xfrm>
            <a:off x="2423160" y="1874519"/>
            <a:ext cx="347472" cy="566928"/>
          </a:xfrm>
          <a:prstGeom prst="rect">
            <a:avLst/>
          </a:prstGeom>
          <a:solidFill>
            <a:srgbClr val="19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4" name="TextBox 54"/>
          <p:cNvSpPr txBox="1"/>
          <p:nvPr/>
        </p:nvSpPr>
        <p:spPr>
          <a:xfrm>
            <a:off x="2295144" y="1709928"/>
            <a:ext cx="60350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93B67"/>
                </a:solidFill>
                <a:latin typeface="Arial"/>
              </a:rPr>
              <a:t>671B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167128" y="2514600"/>
            <a:ext cx="859536" cy="27432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6C75"/>
                </a:solidFill>
                <a:latin typeface="Arial"/>
              </a:rPr>
              <a:t>DeepSeek-V3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6C75"/>
                </a:solidFill>
                <a:latin typeface="Arial"/>
              </a:rPr>
              <a:t>(2024)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401568" y="1906524"/>
            <a:ext cx="87782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3C54"/>
                </a:solidFill>
                <a:latin typeface="Arial"/>
              </a:rPr>
              <a:t>INT4 · 0.5 B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352544" y="1929384"/>
            <a:ext cx="121158" cy="86868"/>
          </a:xfrm>
          <a:prstGeom prst="rect">
            <a:avLst/>
          </a:prstGeom>
          <a:solidFill>
            <a:srgbClr val="F58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8" name="TextBox 58"/>
          <p:cNvSpPr txBox="1"/>
          <p:nvPr/>
        </p:nvSpPr>
        <p:spPr>
          <a:xfrm>
            <a:off x="4533138" y="1892808"/>
            <a:ext cx="457200" cy="18288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B67"/>
                </a:solidFill>
                <a:latin typeface="Arial"/>
              </a:rPr>
              <a:t>3.5 GB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01568" y="2112264"/>
            <a:ext cx="87782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3C54"/>
                </a:solidFill>
                <a:latin typeface="Arial"/>
              </a:rPr>
              <a:t>INT8 · 1 B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352544" y="2135124"/>
            <a:ext cx="242316" cy="86868"/>
          </a:xfrm>
          <a:prstGeom prst="rect">
            <a:avLst/>
          </a:prstGeom>
          <a:solidFill>
            <a:srgbClr val="2E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1" name="TextBox 61"/>
          <p:cNvSpPr txBox="1"/>
          <p:nvPr/>
        </p:nvSpPr>
        <p:spPr>
          <a:xfrm>
            <a:off x="4654296" y="2098548"/>
            <a:ext cx="457200" cy="18288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B67"/>
                </a:solidFill>
                <a:latin typeface="Arial"/>
              </a:rPr>
              <a:t>7 GB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401568" y="2318004"/>
            <a:ext cx="87782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3C54"/>
                </a:solidFill>
                <a:latin typeface="Arial"/>
              </a:rPr>
              <a:t>FP16/BF16 · 2 B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352544" y="2340864"/>
            <a:ext cx="484632" cy="86868"/>
          </a:xfrm>
          <a:prstGeom prst="rect">
            <a:avLst/>
          </a:prstGeom>
          <a:solidFill>
            <a:srgbClr val="19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4" name="TextBox 64"/>
          <p:cNvSpPr txBox="1"/>
          <p:nvPr/>
        </p:nvSpPr>
        <p:spPr>
          <a:xfrm>
            <a:off x="4896612" y="2304288"/>
            <a:ext cx="457200" cy="18288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B67"/>
                </a:solidFill>
                <a:latin typeface="Arial"/>
              </a:rPr>
              <a:t>14 GB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401568" y="2523744"/>
            <a:ext cx="877824" cy="155448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3C54"/>
                </a:solidFill>
                <a:latin typeface="Arial"/>
              </a:rPr>
              <a:t>FP32 · 4 B</a:t>
            </a:r>
          </a:p>
        </p:txBody>
      </p:sp>
      <p:sp>
        <p:nvSpPr>
          <p:cNvPr id="66" name="Rectangle 66"/>
          <p:cNvSpPr/>
          <p:nvPr/>
        </p:nvSpPr>
        <p:spPr>
          <a:xfrm>
            <a:off x="4352544" y="2546604"/>
            <a:ext cx="969264" cy="86868"/>
          </a:xfrm>
          <a:prstGeom prst="rect">
            <a:avLst/>
          </a:prstGeom>
          <a:solidFill>
            <a:srgbClr val="A7A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7" name="TextBox 67"/>
          <p:cNvSpPr txBox="1"/>
          <p:nvPr/>
        </p:nvSpPr>
        <p:spPr>
          <a:xfrm>
            <a:off x="5381244" y="2510028"/>
            <a:ext cx="457200" cy="182880"/>
          </a:xfrm>
          <a:prstGeom prst="rect">
            <a:avLst/>
          </a:prstGeom>
          <a:noFill/>
        </p:spPr>
        <p:txBody>
          <a:bodyPr wrap="none" lIns="2743" rIns="2743" tIns="2743" bIns="2743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B67"/>
                </a:solidFill>
                <a:latin typeface="Arial"/>
              </a:rPr>
              <a:t>28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3000"/>
              <a:t>Problem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500"/>
              <a:t>Controlled benchmark: precision × batch size × prompt length (× model size)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2432304" cy="978408"/>
          </a:xfrm>
          <a:prstGeom prst="roundRect">
            <a:avLst>
              <a:gd name="adj" fmla="val 7476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1207008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267358"/>
            <a:ext cx="153619" cy="153619"/>
          </a:xfrm>
          <a:prstGeom prst="rect">
            <a:avLst/>
          </a:prstGeom>
        </p:spPr>
      </p:pic>
      <p:sp>
        <p:nvSpPr>
          <p:cNvPr id="7" name="hdr Model"/>
          <p:cNvSpPr txBox="1"/>
          <p:nvPr/>
        </p:nvSpPr>
        <p:spPr>
          <a:xfrm>
            <a:off x="950976" y="120700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Model</a:t>
            </a:r>
          </a:p>
        </p:txBody>
      </p:sp>
      <p:sp>
        <p:nvSpPr>
          <p:cNvPr id="8" name="spec Model"/>
          <p:cNvSpPr txBox="1"/>
          <p:nvPr/>
        </p:nvSpPr>
        <p:spPr>
          <a:xfrm>
            <a:off x="603504" y="1517904"/>
            <a:ext cx="2176272" cy="557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sz="900" b="1" i="0">
                <a:solidFill>
                  <a:srgbClr val="003865"/>
                </a:solidFill>
                <a:latin typeface="Arial"/>
              </a:rPr>
              <a:t>Qwen2.5-3B-Instruct</a:t>
            </a:r>
          </a:p>
          <a:p>
            <a:pPr algn="l">
              <a:spcAft>
                <a:spcPts val="150"/>
              </a:spcAft>
            </a:pPr>
            <a:r>
              <a:rPr sz="900" b="0" i="0">
                <a:solidFill>
                  <a:srgbClr val="1F2933"/>
                </a:solidFill>
                <a:latin typeface="Arial"/>
              </a:rPr>
              <a:t>Qwen2.5-7B-Instruct if resources allow</a:t>
            </a:r>
          </a:p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No training — inference only</a:t>
            </a:r>
          </a:p>
        </p:txBody>
      </p:sp>
      <p:sp>
        <p:nvSpPr>
          <p:cNvPr id="9" name="Rounded 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8376" y="1133856"/>
            <a:ext cx="2432304" cy="978408"/>
          </a:xfrm>
          <a:prstGeom prst="roundRect">
            <a:avLst>
              <a:gd name="adj" fmla="val 7476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1207008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742" y="1267358"/>
            <a:ext cx="153619" cy="153619"/>
          </a:xfrm>
          <a:prstGeom prst="rect">
            <a:avLst/>
          </a:prstGeom>
        </p:spPr>
      </p:pic>
      <p:sp>
        <p:nvSpPr>
          <p:cNvPr id="12" name="hdr Quantization"/>
          <p:cNvSpPr txBox="1"/>
          <p:nvPr/>
        </p:nvSpPr>
        <p:spPr>
          <a:xfrm>
            <a:off x="3502152" y="120700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Quantization</a:t>
            </a:r>
          </a:p>
        </p:txBody>
      </p:sp>
      <p:sp>
        <p:nvSpPr>
          <p:cNvPr id="13" name="Oval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8396" y="1549908"/>
            <a:ext cx="82296" cy="82296"/>
          </a:xfrm>
          <a:prstGeom prst="ellipse">
            <a:avLst/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rec BF16 / FP16"/>
          <p:cNvSpPr txBox="1"/>
          <p:nvPr/>
        </p:nvSpPr>
        <p:spPr>
          <a:xfrm>
            <a:off x="3319272" y="1522476"/>
            <a:ext cx="202996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BF16 / FP16</a:t>
            </a:r>
            <a:r>
              <a:rPr sz="850" b="0" i="0">
                <a:solidFill>
                  <a:srgbClr val="1F2933"/>
                </a:solidFill>
                <a:latin typeface="Arial"/>
              </a:rPr>
              <a:t> — baseline</a:t>
            </a:r>
          </a:p>
        </p:txBody>
      </p:sp>
      <p:sp>
        <p:nvSpPr>
          <p:cNvPr id="15" name="Oval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8396" y="1682496"/>
            <a:ext cx="82296" cy="8229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c INT8"/>
          <p:cNvSpPr txBox="1"/>
          <p:nvPr/>
        </p:nvSpPr>
        <p:spPr>
          <a:xfrm>
            <a:off x="3319272" y="1655064"/>
            <a:ext cx="202996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INT8</a:t>
            </a:r>
            <a:r>
              <a:rPr sz="850" b="0" i="0">
                <a:solidFill>
                  <a:srgbClr val="1F2933"/>
                </a:solidFill>
                <a:latin typeface="Arial"/>
              </a:rPr>
              <a:t> — bitsandbytes LLM.int8()</a:t>
            </a:r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8396" y="1815084"/>
            <a:ext cx="82296" cy="82296"/>
          </a:xfrm>
          <a:prstGeom prst="ellipse">
            <a:avLst/>
          </a:prstGeom>
          <a:solidFill>
            <a:srgbClr val="F58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rec INT4"/>
          <p:cNvSpPr txBox="1"/>
          <p:nvPr/>
        </p:nvSpPr>
        <p:spPr>
          <a:xfrm>
            <a:off x="3319272" y="1787652"/>
            <a:ext cx="202996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INT4</a:t>
            </a:r>
            <a:r>
              <a:rPr sz="850" b="0" i="0">
                <a:solidFill>
                  <a:srgbClr val="1F2933"/>
                </a:solidFill>
                <a:latin typeface="Arial"/>
              </a:rPr>
              <a:t> — bitsandbytes NF4</a:t>
            </a:r>
          </a:p>
        </p:txBody>
      </p:sp>
      <p:sp>
        <p:nvSpPr>
          <p:cNvPr id="19" name="Oval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8396" y="1947672"/>
            <a:ext cx="82296" cy="82296"/>
          </a:xfrm>
          <a:prstGeom prst="ellipse">
            <a:avLst/>
          </a:prstGeom>
          <a:noFill/>
          <a:ln w="15875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rec AWQ 4-bit"/>
          <p:cNvSpPr txBox="1"/>
          <p:nvPr/>
        </p:nvSpPr>
        <p:spPr>
          <a:xfrm>
            <a:off x="3319272" y="1920240"/>
            <a:ext cx="202996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AWQ 4-bit</a:t>
            </a:r>
            <a:r>
              <a:rPr sz="850" b="0" i="0">
                <a:solidFill>
                  <a:srgbClr val="1F2933"/>
                </a:solidFill>
                <a:latin typeface="Arial"/>
              </a:rPr>
              <a:t> — optional extension</a:t>
            </a:r>
          </a:p>
        </p:txBody>
      </p:sp>
      <p:sp>
        <p:nvSpPr>
          <p:cNvPr id="21" name="Rounded 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21992"/>
            <a:ext cx="2432304" cy="978408"/>
          </a:xfrm>
          <a:prstGeom prst="roundRect">
            <a:avLst>
              <a:gd name="adj" fmla="val 7476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2295144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" y="2355494"/>
            <a:ext cx="153619" cy="153619"/>
          </a:xfrm>
          <a:prstGeom prst="rect">
            <a:avLst/>
          </a:prstGeom>
        </p:spPr>
      </p:pic>
      <p:sp>
        <p:nvSpPr>
          <p:cNvPr id="24" name="hdr Data"/>
          <p:cNvSpPr txBox="1"/>
          <p:nvPr/>
        </p:nvSpPr>
        <p:spPr>
          <a:xfrm>
            <a:off x="950976" y="229514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Data</a:t>
            </a:r>
          </a:p>
        </p:txBody>
      </p:sp>
      <p:sp>
        <p:nvSpPr>
          <p:cNvPr id="25" name="spec Data"/>
          <p:cNvSpPr txBox="1"/>
          <p:nvPr/>
        </p:nvSpPr>
        <p:spPr>
          <a:xfrm>
            <a:off x="603504" y="2606040"/>
            <a:ext cx="2176272" cy="557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Speed: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ShareGPT, 53K conversations → 300 prompts (fixed seed)</a:t>
            </a:r>
          </a:p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Quality: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WikiText-2 perplexity; GSM8K subset, 100–200 Qs</a:t>
            </a:r>
          </a:p>
        </p:txBody>
      </p:sp>
      <p:sp>
        <p:nvSpPr>
          <p:cNvPr id="26" name="Rounded 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8376" y="2221992"/>
            <a:ext cx="2432304" cy="978408"/>
          </a:xfrm>
          <a:prstGeom prst="roundRect">
            <a:avLst>
              <a:gd name="adj" fmla="val 7476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2295144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742" y="2355494"/>
            <a:ext cx="153619" cy="153619"/>
          </a:xfrm>
          <a:prstGeom prst="rect">
            <a:avLst/>
          </a:prstGeom>
        </p:spPr>
      </p:pic>
      <p:sp>
        <p:nvSpPr>
          <p:cNvPr id="29" name="hdr Settings"/>
          <p:cNvSpPr txBox="1"/>
          <p:nvPr/>
        </p:nvSpPr>
        <p:spPr>
          <a:xfrm>
            <a:off x="3502152" y="229514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Settings</a:t>
            </a:r>
          </a:p>
        </p:txBody>
      </p:sp>
      <p:sp>
        <p:nvSpPr>
          <p:cNvPr id="30" name="spec Settings"/>
          <p:cNvSpPr txBox="1"/>
          <p:nvPr/>
        </p:nvSpPr>
        <p:spPr>
          <a:xfrm>
            <a:off x="3154680" y="2606040"/>
            <a:ext cx="2176272" cy="557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Batch size: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1 / 4 / 8 / 16</a:t>
            </a:r>
          </a:p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Prompt length: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short / medium / long (≈128 / 512 / 1024 tokens)</a:t>
            </a:r>
          </a:p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Runs: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warm-up excluded, repeats averaged</a:t>
            </a:r>
          </a:p>
        </p:txBody>
      </p:sp>
      <p:sp>
        <p:nvSpPr>
          <p:cNvPr id="31" name="Rounded 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10128"/>
            <a:ext cx="4983480" cy="850391"/>
          </a:xfrm>
          <a:prstGeom prst="roundRect">
            <a:avLst>
              <a:gd name="adj" fmla="val 8602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3383280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" y="3443630"/>
            <a:ext cx="153619" cy="153619"/>
          </a:xfrm>
          <a:prstGeom prst="rect">
            <a:avLst/>
          </a:prstGeom>
        </p:spPr>
      </p:pic>
      <p:sp>
        <p:nvSpPr>
          <p:cNvPr id="34" name="hdr Metrics"/>
          <p:cNvSpPr txBox="1"/>
          <p:nvPr/>
        </p:nvSpPr>
        <p:spPr>
          <a:xfrm>
            <a:off x="950976" y="3383280"/>
            <a:ext cx="43982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Metrics</a:t>
            </a:r>
          </a:p>
        </p:txBody>
      </p:sp>
      <p:sp>
        <p:nvSpPr>
          <p:cNvPr id="35" name="spec Metrics"/>
          <p:cNvSpPr txBox="1"/>
          <p:nvPr/>
        </p:nvSpPr>
        <p:spPr>
          <a:xfrm>
            <a:off x="603504" y="3694176"/>
            <a:ext cx="4727448" cy="429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System: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peak GPU memory (VRAM) · model loading time · end-to-end latency · TTFT (time to first token) · TPOT / decode latency · throughput (tokens/s) · requests/s</a:t>
            </a:r>
          </a:p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Quality: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perplexity (WikiText-2) or accuracy (GSM8K)</a:t>
            </a:r>
          </a:p>
        </p:txBody>
      </p:sp>
      <p:sp>
        <p:nvSpPr>
          <p:cNvPr id="36" name="Rounded Rectangl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310128"/>
            <a:ext cx="3108959" cy="850391"/>
          </a:xfrm>
          <a:prstGeom prst="roundRect">
            <a:avLst>
              <a:gd name="adj" fmla="val 8602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5856" y="3383280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6206" y="3443630"/>
            <a:ext cx="153619" cy="153619"/>
          </a:xfrm>
          <a:prstGeom prst="rect">
            <a:avLst/>
          </a:prstGeom>
        </p:spPr>
      </p:pic>
      <p:sp>
        <p:nvSpPr>
          <p:cNvPr id="39" name="hdr Environment"/>
          <p:cNvSpPr txBox="1"/>
          <p:nvPr/>
        </p:nvSpPr>
        <p:spPr>
          <a:xfrm>
            <a:off x="6071616" y="338328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003865"/>
                </a:solidFill>
                <a:latin typeface="Arial"/>
              </a:rPr>
              <a:t>Environment</a:t>
            </a:r>
          </a:p>
        </p:txBody>
      </p:sp>
      <p:sp>
        <p:nvSpPr>
          <p:cNvPr id="40" name="spec Environment"/>
          <p:cNvSpPr txBox="1"/>
          <p:nvPr/>
        </p:nvSpPr>
        <p:spPr>
          <a:xfrm>
            <a:off x="5724144" y="3694176"/>
            <a:ext cx="2852927" cy="429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GPU: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24 GB NVIDIA (e.g., RTX 4090 / A5000), CUDA 12.x</a:t>
            </a:r>
          </a:p>
          <a:p>
            <a:pPr algn="l">
              <a:spcAft>
                <a:spcPts val="150"/>
              </a:spcAft>
            </a:pPr>
            <a:r>
              <a:rPr sz="850" b="1" i="0">
                <a:solidFill>
                  <a:srgbClr val="003865"/>
                </a:solidFill>
                <a:latin typeface="Arial"/>
              </a:rPr>
              <a:t>Stack: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PyTorch · HF Transformers · bitsandbytes</a:t>
            </a:r>
          </a:p>
          <a:p>
            <a:pPr algn="l"/>
            <a:r>
              <a:rPr sz="850" b="1" i="0">
                <a:solidFill>
                  <a:srgbClr val="003865"/>
                </a:solidFill>
                <a:latin typeface="Arial"/>
              </a:rPr>
              <a:t>Optional: </a:t>
            </a:r>
            <a:r>
              <a:rPr sz="850" b="0" i="0">
                <a:solidFill>
                  <a:srgbClr val="1F2933"/>
                </a:solidFill>
                <a:latin typeface="Arial"/>
              </a:rPr>
              <a:t>AWQ 4-bit, vLLM serving</a:t>
            </a:r>
          </a:p>
        </p:txBody>
      </p:sp>
      <p:sp>
        <p:nvSpPr>
          <p:cNvPr id="41" name="Rounded 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133856"/>
            <a:ext cx="3108959" cy="2066543"/>
          </a:xfrm>
          <a:prstGeom prst="roundRect">
            <a:avLst>
              <a:gd name="adj" fmla="val 3539"/>
            </a:avLst>
          </a:prstGeom>
          <a:solidFill>
            <a:srgbClr val="003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5856" y="1207008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206" y="1267358"/>
            <a:ext cx="153619" cy="153619"/>
          </a:xfrm>
          <a:prstGeom prst="rect">
            <a:avLst/>
          </a:prstGeom>
        </p:spPr>
      </p:pic>
      <p:sp>
        <p:nvSpPr>
          <p:cNvPr id="44" name="json header"/>
          <p:cNvSpPr txBox="1"/>
          <p:nvPr/>
        </p:nvSpPr>
        <p:spPr>
          <a:xfrm>
            <a:off x="6053328" y="1207008"/>
            <a:ext cx="254203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of ShareGPT</a:t>
            </a:r>
          </a:p>
        </p:txBody>
      </p:sp>
      <p:sp>
        <p:nvSpPr>
          <p:cNvPr id="45" name="json code"/>
          <p:cNvSpPr txBox="1"/>
          <p:nvPr/>
        </p:nvSpPr>
        <p:spPr>
          <a:xfrm>
            <a:off x="5724144" y="1554480"/>
            <a:ext cx="2889503" cy="15910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"id"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"conversation_id"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"conversations"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[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{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"from"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"human"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"value"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"Explain quantum computing to me."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},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{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"from"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"gpt"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"value"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"Quantum computing is..."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},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{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"from"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"human"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"value"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"Can you give an example?"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},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 {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"from"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"gpt"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, </a:t>
            </a:r>
            <a:r>
              <a:rPr sz="750" b="0" i="0">
                <a:solidFill>
                  <a:srgbClr val="9CC7EC"/>
                </a:solidFill>
                <a:latin typeface="Courier New"/>
              </a:rPr>
              <a:t>"value"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: </a:t>
            </a:r>
            <a:r>
              <a:rPr sz="750" b="0" i="0">
                <a:solidFill>
                  <a:srgbClr val="FFFFFF"/>
                </a:solidFill>
                <a:latin typeface="Courier New"/>
              </a:rPr>
              <a:t>"Sure..."</a:t>
            </a:r>
            <a:r>
              <a:rPr sz="750" b="0" i="0">
                <a:solidFill>
                  <a:srgbClr val="AEBBC7"/>
                </a:solidFill>
                <a:latin typeface="Courier New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 ]</a:t>
            </a:r>
          </a:p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AEBBC7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3000"/>
              <a:t>Planning and Division of Labor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500"/>
              <a:t>One owner per research question; all three share analysis, report and presentation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2651760" cy="1517904"/>
          </a:xfrm>
          <a:prstGeom prst="roundRect">
            <a:avLst>
              <a:gd name="adj" fmla="val 48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1243584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9" y="1332097"/>
            <a:ext cx="225308" cy="225308"/>
          </a:xfrm>
          <a:prstGeom prst="rect">
            <a:avLst/>
          </a:prstGeom>
        </p:spPr>
      </p:pic>
      <p:sp>
        <p:nvSpPr>
          <p:cNvPr id="7" name="member 0"/>
          <p:cNvSpPr txBox="1"/>
          <p:nvPr/>
        </p:nvSpPr>
        <p:spPr>
          <a:xfrm>
            <a:off x="1078992" y="12435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Sijia Zhong</a:t>
            </a:r>
          </a:p>
        </p:txBody>
      </p:sp>
      <p:sp>
        <p:nvSpPr>
          <p:cNvPr id="8" name="role 0"/>
          <p:cNvSpPr txBox="1"/>
          <p:nvPr/>
        </p:nvSpPr>
        <p:spPr>
          <a:xfrm>
            <a:off x="1078992" y="1463040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Baseline &amp; benchmark</a:t>
            </a:r>
          </a:p>
        </p:txBody>
      </p:sp>
      <p:sp>
        <p:nvSpPr>
          <p:cNvPr id="9" name="Oval 8"/>
          <p:cNvSpPr/>
          <p:nvPr/>
        </p:nvSpPr>
        <p:spPr>
          <a:xfrm>
            <a:off x="2670048" y="1280160"/>
            <a:ext cx="329184" cy="329184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10" name="task 0"/>
          <p:cNvSpPr txBox="1"/>
          <p:nvPr/>
        </p:nvSpPr>
        <p:spPr>
          <a:xfrm>
            <a:off x="603504" y="173736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Set up the BF16 / INT8 / INT4 pipeline and shared benchmark scripts; measure actual vs. theoretical memory.</a:t>
            </a:r>
          </a:p>
        </p:txBody>
      </p:sp>
      <p:cxnSp>
        <p:nvCxnSpPr>
          <p:cNvPr id="11" name="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3504" y="2304288"/>
            <a:ext cx="2359152" cy="0"/>
          </a:xfrm>
          <a:prstGeom prst="line">
            <a:avLst/>
          </a:prstGeom>
          <a:ln w="9525">
            <a:solidFill>
              <a:srgbClr val="BD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lots 0"/>
          <p:cNvSpPr txBox="1"/>
          <p:nvPr/>
        </p:nvSpPr>
        <p:spPr>
          <a:xfrm>
            <a:off x="603504" y="23408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 i="0">
                <a:solidFill>
                  <a:srgbClr val="003865"/>
                </a:solidFill>
                <a:latin typeface="Arial"/>
              </a:rPr>
              <a:t>Key plots: </a:t>
            </a:r>
            <a:r>
              <a:rPr sz="800" b="0" i="0">
                <a:solidFill>
                  <a:srgbClr val="5B6770"/>
                </a:solidFill>
                <a:latin typeface="Arial"/>
              </a:rPr>
              <a:t>Precision vs. peak GPU memory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33856"/>
            <a:ext cx="2651760" cy="1517904"/>
          </a:xfrm>
          <a:prstGeom prst="roundRect">
            <a:avLst>
              <a:gd name="adj" fmla="val 48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4136" y="1243584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649" y="1332097"/>
            <a:ext cx="225308" cy="225308"/>
          </a:xfrm>
          <a:prstGeom prst="rect">
            <a:avLst/>
          </a:prstGeom>
        </p:spPr>
      </p:pic>
      <p:sp>
        <p:nvSpPr>
          <p:cNvPr id="16" name="member 1"/>
          <p:cNvSpPr txBox="1"/>
          <p:nvPr/>
        </p:nvSpPr>
        <p:spPr>
          <a:xfrm>
            <a:off x="3867911" y="12435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Zheng Zheng</a:t>
            </a:r>
          </a:p>
        </p:txBody>
      </p:sp>
      <p:sp>
        <p:nvSpPr>
          <p:cNvPr id="17" name="role 1"/>
          <p:cNvSpPr txBox="1"/>
          <p:nvPr/>
        </p:nvSpPr>
        <p:spPr>
          <a:xfrm>
            <a:off x="3867911" y="1463040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Controlled experiments</a:t>
            </a:r>
          </a:p>
        </p:txBody>
      </p:sp>
      <p:sp>
        <p:nvSpPr>
          <p:cNvPr id="18" name="Oval 17"/>
          <p:cNvSpPr/>
          <p:nvPr/>
        </p:nvSpPr>
        <p:spPr>
          <a:xfrm>
            <a:off x="5458968" y="1280160"/>
            <a:ext cx="329184" cy="329184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9" name="task 1"/>
          <p:cNvSpPr txBox="1"/>
          <p:nvPr/>
        </p:nvSpPr>
        <p:spPr>
          <a:xfrm>
            <a:off x="3392424" y="173736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Synthetic prompts: precision × batch size × input length × output length; measure TTFT, decode latency, throughput.</a:t>
            </a:r>
          </a:p>
        </p:txBody>
      </p:sp>
      <p:cxnSp>
        <p:nvCxnSpPr>
          <p:cNvPr id="20" name="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92424" y="2304288"/>
            <a:ext cx="2359151" cy="0"/>
          </a:xfrm>
          <a:prstGeom prst="line">
            <a:avLst/>
          </a:prstGeom>
          <a:ln w="9525">
            <a:solidFill>
              <a:srgbClr val="BD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lots 1"/>
          <p:cNvSpPr txBox="1"/>
          <p:nvPr/>
        </p:nvSpPr>
        <p:spPr>
          <a:xfrm>
            <a:off x="3392424" y="23408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 i="0">
                <a:solidFill>
                  <a:srgbClr val="003865"/>
                </a:solidFill>
                <a:latin typeface="Arial"/>
              </a:rPr>
              <a:t>Key plots: </a:t>
            </a:r>
            <a:r>
              <a:rPr sz="800" b="0" i="0">
                <a:solidFill>
                  <a:srgbClr val="5B6770"/>
                </a:solidFill>
                <a:latin typeface="Arial"/>
              </a:rPr>
              <a:t>Batch size vs. throughput; prompt length vs. latency</a:t>
            </a:r>
          </a:p>
        </p:txBody>
      </p:sp>
      <p:sp>
        <p:nvSpPr>
          <p:cNvPr id="22" name="Rounded 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133856"/>
            <a:ext cx="2651760" cy="1517904"/>
          </a:xfrm>
          <a:prstGeom prst="roundRect">
            <a:avLst>
              <a:gd name="adj" fmla="val 48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5" y="1243584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569" y="1332097"/>
            <a:ext cx="225308" cy="225308"/>
          </a:xfrm>
          <a:prstGeom prst="rect">
            <a:avLst/>
          </a:prstGeom>
        </p:spPr>
      </p:pic>
      <p:sp>
        <p:nvSpPr>
          <p:cNvPr id="25" name="member 2"/>
          <p:cNvSpPr txBox="1"/>
          <p:nvPr/>
        </p:nvSpPr>
        <p:spPr>
          <a:xfrm>
            <a:off x="6656831" y="12435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Haofei Sun</a:t>
            </a:r>
          </a:p>
        </p:txBody>
      </p:sp>
      <p:sp>
        <p:nvSpPr>
          <p:cNvPr id="26" name="role 2"/>
          <p:cNvSpPr txBox="1"/>
          <p:nvPr/>
        </p:nvSpPr>
        <p:spPr>
          <a:xfrm>
            <a:off x="6656831" y="1463040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Real workload + quality</a:t>
            </a:r>
          </a:p>
        </p:txBody>
      </p:sp>
      <p:sp>
        <p:nvSpPr>
          <p:cNvPr id="27" name="Oval 26"/>
          <p:cNvSpPr/>
          <p:nvPr/>
        </p:nvSpPr>
        <p:spPr>
          <a:xfrm>
            <a:off x="8247888" y="1280160"/>
            <a:ext cx="329184" cy="329184"/>
          </a:xfrm>
          <a:prstGeom prst="ellipse">
            <a:avLst/>
          </a:prstGeom>
          <a:solidFill>
            <a:srgbClr val="003865"/>
          </a:solidFill>
          <a:ln w="19050">
            <a:solidFill>
              <a:srgbClr val="F58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28" name="task 2"/>
          <p:cNvSpPr txBox="1"/>
          <p:nvPr/>
        </p:nvSpPr>
        <p:spPr>
          <a:xfrm>
            <a:off x="6181344" y="173736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Run 300 ShareGPT prompts with speed and quality evaluation; locate where lower-bit beats BF16.</a:t>
            </a:r>
          </a:p>
        </p:txBody>
      </p:sp>
      <p:cxnSp>
        <p:nvCxnSpPr>
          <p:cNvPr id="29" name="Connecto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181344" y="2304288"/>
            <a:ext cx="2359152" cy="0"/>
          </a:xfrm>
          <a:prstGeom prst="line">
            <a:avLst/>
          </a:prstGeom>
          <a:ln w="9525">
            <a:solidFill>
              <a:srgbClr val="BD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lots 2"/>
          <p:cNvSpPr txBox="1"/>
          <p:nvPr/>
        </p:nvSpPr>
        <p:spPr>
          <a:xfrm>
            <a:off x="6181344" y="23408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 i="0">
                <a:solidFill>
                  <a:srgbClr val="003865"/>
                </a:solidFill>
                <a:latin typeface="Arial"/>
              </a:rPr>
              <a:t>Key plots: </a:t>
            </a:r>
            <a:r>
              <a:rPr sz="800" b="0" i="0">
                <a:solidFill>
                  <a:srgbClr val="5B6770"/>
                </a:solidFill>
                <a:latin typeface="Arial"/>
              </a:rPr>
              <a:t>Precision vs. throughput / TTFT; quality vs. compression</a:t>
            </a:r>
          </a:p>
        </p:txBody>
      </p:sp>
      <p:sp>
        <p:nvSpPr>
          <p:cNvPr id="31" name="tl label"/>
          <p:cNvSpPr txBox="1"/>
          <p:nvPr/>
        </p:nvSpPr>
        <p:spPr>
          <a:xfrm>
            <a:off x="457200" y="2743199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5B6770"/>
                </a:solidFill>
                <a:latin typeface="Arial"/>
              </a:rPr>
              <a:t>6-week timeline</a:t>
            </a:r>
          </a:p>
        </p:txBody>
      </p:sp>
      <p:cxnSp>
        <p:nvCxnSpPr>
          <p:cNvPr id="32" name="Connector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3000" y="3081527"/>
            <a:ext cx="6858000" cy="0"/>
          </a:xfrm>
          <a:prstGeom prst="line">
            <a:avLst/>
          </a:prstGeom>
          <a:ln w="25400">
            <a:solidFill>
              <a:srgbClr val="BD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875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34" name="week W1"/>
          <p:cNvSpPr txBox="1"/>
          <p:nvPr/>
        </p:nvSpPr>
        <p:spPr>
          <a:xfrm>
            <a:off x="5120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Read GPTQ / AWQ; set up models, env &amp; scripts</a:t>
            </a:r>
          </a:p>
        </p:txBody>
      </p:sp>
      <p:sp>
        <p:nvSpPr>
          <p:cNvPr id="35" name="Oval 34"/>
          <p:cNvSpPr/>
          <p:nvPr/>
        </p:nvSpPr>
        <p:spPr>
          <a:xfrm>
            <a:off x="23591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W2</a:t>
            </a:r>
          </a:p>
        </p:txBody>
      </p:sp>
      <p:sp>
        <p:nvSpPr>
          <p:cNvPr id="36" name="week W2"/>
          <p:cNvSpPr txBox="1"/>
          <p:nvPr/>
        </p:nvSpPr>
        <p:spPr>
          <a:xfrm>
            <a:off x="18836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BF16 / INT8 / INT4 pipeline running end to end</a:t>
            </a:r>
          </a:p>
        </p:txBody>
      </p:sp>
      <p:sp>
        <p:nvSpPr>
          <p:cNvPr id="37" name="Oval 36"/>
          <p:cNvSpPr/>
          <p:nvPr/>
        </p:nvSpPr>
        <p:spPr>
          <a:xfrm>
            <a:off x="37307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38" name="week W3"/>
          <p:cNvSpPr txBox="1"/>
          <p:nvPr/>
        </p:nvSpPr>
        <p:spPr>
          <a:xfrm>
            <a:off x="32552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Batch-size, prompt-length and model-size runs</a:t>
            </a:r>
          </a:p>
        </p:txBody>
      </p:sp>
      <p:sp>
        <p:nvSpPr>
          <p:cNvPr id="39" name="Oval 38"/>
          <p:cNvSpPr/>
          <p:nvPr/>
        </p:nvSpPr>
        <p:spPr>
          <a:xfrm>
            <a:off x="51023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W4</a:t>
            </a:r>
          </a:p>
        </p:txBody>
      </p:sp>
      <p:sp>
        <p:nvSpPr>
          <p:cNvPr id="40" name="week W4"/>
          <p:cNvSpPr txBox="1"/>
          <p:nvPr/>
        </p:nvSpPr>
        <p:spPr>
          <a:xfrm>
            <a:off x="46268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Quality evaluation + AWQ extension</a:t>
            </a:r>
          </a:p>
        </p:txBody>
      </p:sp>
      <p:sp>
        <p:nvSpPr>
          <p:cNvPr id="41" name="Oval 40"/>
          <p:cNvSpPr/>
          <p:nvPr/>
        </p:nvSpPr>
        <p:spPr>
          <a:xfrm>
            <a:off x="64739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W5</a:t>
            </a:r>
          </a:p>
        </p:txBody>
      </p:sp>
      <p:sp>
        <p:nvSpPr>
          <p:cNvPr id="42" name="week W5"/>
          <p:cNvSpPr txBox="1"/>
          <p:nvPr/>
        </p:nvSpPr>
        <p:spPr>
          <a:xfrm>
            <a:off x="59984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Plots, analysis, trade-off summary</a:t>
            </a:r>
          </a:p>
        </p:txBody>
      </p:sp>
      <p:sp>
        <p:nvSpPr>
          <p:cNvPr id="43" name="Oval 42"/>
          <p:cNvSpPr/>
          <p:nvPr/>
        </p:nvSpPr>
        <p:spPr>
          <a:xfrm>
            <a:off x="7845552" y="2926079"/>
            <a:ext cx="310896" cy="310896"/>
          </a:xfrm>
          <a:prstGeom prst="ellipse">
            <a:avLst/>
          </a:prstGeom>
          <a:solidFill>
            <a:srgbClr val="0064B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W6</a:t>
            </a:r>
          </a:p>
        </p:txBody>
      </p:sp>
      <p:sp>
        <p:nvSpPr>
          <p:cNvPr id="44" name="week W6"/>
          <p:cNvSpPr txBox="1"/>
          <p:nvPr/>
        </p:nvSpPr>
        <p:spPr>
          <a:xfrm>
            <a:off x="7370064" y="3291839"/>
            <a:ext cx="12618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1F2933"/>
                </a:solidFill>
                <a:latin typeface="Arial"/>
              </a:rPr>
              <a:t>Report, slides, reproducible code</a:t>
            </a:r>
          </a:p>
        </p:txBody>
      </p:sp>
      <p:sp>
        <p:nvSpPr>
          <p:cNvPr id="45" name="Rounded Rectangl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21608"/>
            <a:ext cx="8229600" cy="438911"/>
          </a:xfrm>
          <a:prstGeom prst="roundRect">
            <a:avLst>
              <a:gd name="adj" fmla="val 16666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3803904"/>
            <a:ext cx="274320" cy="274320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" y="3864254"/>
            <a:ext cx="153619" cy="153619"/>
          </a:xfrm>
          <a:prstGeom prst="rect">
            <a:avLst/>
          </a:prstGeom>
        </p:spPr>
      </p:pic>
      <p:sp>
        <p:nvSpPr>
          <p:cNvPr id="48" name="outcome"/>
          <p:cNvSpPr txBox="1"/>
          <p:nvPr/>
        </p:nvSpPr>
        <p:spPr>
          <a:xfrm>
            <a:off x="896112" y="3758184"/>
            <a:ext cx="7680960" cy="3657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03865"/>
                </a:solidFill>
                <a:latin typeface="Arial"/>
              </a:rPr>
              <a:t>Expected outcome: </a:t>
            </a:r>
            <a:r>
              <a:rPr sz="900" b="0" i="0">
                <a:solidFill>
                  <a:srgbClr val="1F2933"/>
                </a:solidFill>
                <a:latin typeface="Arial"/>
              </a:rPr>
              <a:t>quantization reliably shrinks the memory footprint, but speedup is not set by bit-width alone — it depends on workload, batch size and kernel /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30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500"/>
              <a:t>Quantization methods we build on, and the models, data and tools we use</a:t>
            </a:r>
          </a:p>
        </p:txBody>
      </p:sp>
      <p:sp>
        <p:nvSpPr>
          <p:cNvPr id="4" name="Ova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52144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3" y="1216517"/>
            <a:ext cx="163860" cy="163860"/>
          </a:xfrm>
          <a:prstGeom prst="rect">
            <a:avLst/>
          </a:prstGeom>
        </p:spPr>
      </p:pic>
      <p:sp>
        <p:nvSpPr>
          <p:cNvPr id="6" name="hdr Quantization methods"/>
          <p:cNvSpPr txBox="1"/>
          <p:nvPr/>
        </p:nvSpPr>
        <p:spPr>
          <a:xfrm>
            <a:off x="841247" y="1152144"/>
            <a:ext cx="3374135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003865"/>
                </a:solidFill>
                <a:latin typeface="Arial"/>
              </a:rPr>
              <a:t>Quantization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27048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E6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5B6770"/>
                </a:solidFill>
                <a:latin typeface="Arial"/>
              </a:rPr>
              <a:t>Background</a:t>
            </a:r>
          </a:p>
        </p:txBody>
      </p:sp>
      <p:sp>
        <p:nvSpPr>
          <p:cNvPr id="8" name="ref Background"/>
          <p:cNvSpPr txBox="1"/>
          <p:nvPr/>
        </p:nvSpPr>
        <p:spPr>
          <a:xfrm>
            <a:off x="1316736" y="1517904"/>
            <a:ext cx="3118103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Frantar et al., “GPTQ: Accurate Post-Training Quantization for Generative Pre-trained Transformers,” ICLR 2023.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arXiv:2210.17323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1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AWQ (opt.)</a:t>
            </a:r>
          </a:p>
        </p:txBody>
      </p:sp>
      <p:sp>
        <p:nvSpPr>
          <p:cNvPr id="10" name="ref AWQ (opt.)"/>
          <p:cNvSpPr txBox="1"/>
          <p:nvPr/>
        </p:nvSpPr>
        <p:spPr>
          <a:xfrm>
            <a:off x="1316736" y="2075688"/>
            <a:ext cx="3118103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Lin et al., “AWQ: Activation-aware Weight Quantization for On-Device LLM Compression and Acceleration,” MLSys 2024.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arXiv:2306.00978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42615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E6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5B6770"/>
                </a:solidFill>
                <a:latin typeface="Arial"/>
              </a:rPr>
              <a:t>Background</a:t>
            </a:r>
          </a:p>
        </p:txBody>
      </p:sp>
      <p:sp>
        <p:nvSpPr>
          <p:cNvPr id="12" name="ref Background"/>
          <p:cNvSpPr txBox="1"/>
          <p:nvPr/>
        </p:nvSpPr>
        <p:spPr>
          <a:xfrm>
            <a:off x="1316736" y="2633472"/>
            <a:ext cx="3118103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Xiao et al., “SmoothQuant: Accurate and Efficient Post-Training Quantization for Large Language Models,” ICML 2023.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arXiv:2211.10438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399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INT8</a:t>
            </a:r>
          </a:p>
        </p:txBody>
      </p:sp>
      <p:sp>
        <p:nvSpPr>
          <p:cNvPr id="14" name="ref INT8"/>
          <p:cNvSpPr txBox="1"/>
          <p:nvPr/>
        </p:nvSpPr>
        <p:spPr>
          <a:xfrm>
            <a:off x="1316736" y="3191256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Dettmers et al., “LLM.int8(): 8-bit Matrix Multiplication for Transformers at Scale,” NeurIPS 2022.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arXiv:2208.07339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21023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INT4 (NF4)</a:t>
            </a:r>
          </a:p>
        </p:txBody>
      </p:sp>
      <p:sp>
        <p:nvSpPr>
          <p:cNvPr id="16" name="ref INT4 (NF4)"/>
          <p:cNvSpPr txBox="1"/>
          <p:nvPr/>
        </p:nvSpPr>
        <p:spPr>
          <a:xfrm>
            <a:off x="1316736" y="3611879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Dettmers et al., “QLoRA: Efficient Finetuning of Quantized LLMs,” NeurIPS 2023.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arXiv:2305.14314</a:t>
            </a:r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59" y="1152144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533" y="1216517"/>
            <a:ext cx="163860" cy="163860"/>
          </a:xfrm>
          <a:prstGeom prst="rect">
            <a:avLst/>
          </a:prstGeom>
        </p:spPr>
      </p:pic>
      <p:sp>
        <p:nvSpPr>
          <p:cNvPr id="19" name="hdr Models, data &amp; tools"/>
          <p:cNvSpPr txBox="1"/>
          <p:nvPr/>
        </p:nvSpPr>
        <p:spPr>
          <a:xfrm>
            <a:off x="5093208" y="1152144"/>
            <a:ext cx="3374135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003865"/>
                </a:solidFill>
                <a:latin typeface="Arial"/>
              </a:rPr>
              <a:t>Models, data &amp;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1527048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Tool</a:t>
            </a:r>
          </a:p>
        </p:txBody>
      </p:sp>
      <p:sp>
        <p:nvSpPr>
          <p:cNvPr id="21" name="ref Tool"/>
          <p:cNvSpPr txBox="1"/>
          <p:nvPr/>
        </p:nvSpPr>
        <p:spPr>
          <a:xfrm>
            <a:off x="5568696" y="1517904"/>
            <a:ext cx="3118103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Hugging Face, “Bitsandbytes Quantization,” Transformers Documentation.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huggingface.co/docs/transformers/quantization/bitsandbytes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59" y="2084831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Model</a:t>
            </a:r>
          </a:p>
        </p:txBody>
      </p:sp>
      <p:sp>
        <p:nvSpPr>
          <p:cNvPr id="23" name="ref Model"/>
          <p:cNvSpPr txBox="1"/>
          <p:nvPr/>
        </p:nvSpPr>
        <p:spPr>
          <a:xfrm>
            <a:off x="5568696" y="2075688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Qwen Team, “Qwen2.5 Technical Report,” 2024.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arXiv:2412.15115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2505456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Speed data</a:t>
            </a:r>
          </a:p>
        </p:txBody>
      </p:sp>
      <p:sp>
        <p:nvSpPr>
          <p:cNvPr id="25" name="ref Speed data"/>
          <p:cNvSpPr txBox="1"/>
          <p:nvPr/>
        </p:nvSpPr>
        <p:spPr>
          <a:xfrm>
            <a:off x="5568696" y="2496312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ShareGPT_Vicuna_unfiltered (ShareGPT V3 cleaned split, ~53K conversations).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Hugging Face Datasets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2926079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Perplexity</a:t>
            </a:r>
          </a:p>
        </p:txBody>
      </p:sp>
      <p:sp>
        <p:nvSpPr>
          <p:cNvPr id="27" name="ref Perplexity"/>
          <p:cNvSpPr txBox="1"/>
          <p:nvPr/>
        </p:nvSpPr>
        <p:spPr>
          <a:xfrm>
            <a:off x="5568696" y="2916936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Merity et al., “Pointer Sentinel Mixture Models” (WikiText-2), ICLR 2017.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arXiv:1609.07843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59" y="3346703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BD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003865"/>
                </a:solidFill>
                <a:latin typeface="Arial"/>
              </a:rPr>
              <a:t>Accuracy</a:t>
            </a:r>
          </a:p>
        </p:txBody>
      </p:sp>
      <p:sp>
        <p:nvSpPr>
          <p:cNvPr id="29" name="ref Accuracy"/>
          <p:cNvSpPr txBox="1"/>
          <p:nvPr/>
        </p:nvSpPr>
        <p:spPr>
          <a:xfrm>
            <a:off x="5568696" y="3337560"/>
            <a:ext cx="311810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Arial"/>
              </a:rPr>
              <a:t>Cobbe et al., “Training Verifiers to Solve Math Word Problems” (GSM8K), 2021. </a:t>
            </a:r>
            <a:r>
              <a:rPr sz="800" b="0" i="0">
                <a:solidFill>
                  <a:srgbClr val="5B6770"/>
                </a:solidFill>
                <a:latin typeface="Arial"/>
              </a:rPr>
              <a:t>arXiv:2110.14168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878</TotalTime>
  <Words>965</Words>
  <Application>Microsoft Office PowerPoint</Application>
  <PresentationFormat>On-screen Show (16:9)</PresentationFormat>
  <Paragraphs>131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Helvetica</vt:lpstr>
      <vt:lpstr>Wingdings</vt:lpstr>
      <vt:lpstr>UTA Accessible Template</vt:lpstr>
      <vt:lpstr>Smaller Is Not Always Faster</vt:lpstr>
      <vt:lpstr>Motivation</vt:lpstr>
      <vt:lpstr>Problem Setting</vt:lpstr>
      <vt:lpstr>Planning and Division of Labor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Smaller Is Not Always Faster: LLM Quantization</dc:title>
  <dc:subject>CSE 6359 course project proposal</dc:subject>
  <dc:creator>Sijia Zhong, Zheng Zheng, Haofei Sun</dc:creator>
  <cp:keywords>LLM, quantization, INT8, INT4, BF16, benchmark</cp:keywords>
  <cp:lastModifiedBy>Sun, Haofei</cp:lastModifiedBy>
  <cp:revision>83</cp:revision>
  <dcterms:created xsi:type="dcterms:W3CDTF">2021-08-31T19:16:02Z</dcterms:created>
  <dcterms:modified xsi:type="dcterms:W3CDTF">2026-09-30T00:03:14Z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